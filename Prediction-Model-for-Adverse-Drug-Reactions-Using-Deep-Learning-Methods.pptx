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4630400" cy="8229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1"/>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1"/>
          </a:solid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3"/>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3"/>
          </a:solid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6"/>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6"/>
          </a:solid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000000"/>
          </a:solidFill>
        </a:fill>
      </a:tcStyle>
    </a:band2H>
    <a:firstCol>
      <a:tcTxStyle b="on"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000000"/>
          </a:solidFill>
        </a:fill>
      </a:tcStyle>
    </a:lastRow>
    <a:firstRow>
      <a:tcTxStyle b="on" i="off">
        <a:fontRef idx="minor">
          <a:srgbClr val="000000"/>
        </a:fontRef>
        <a:srgbClr val="000000"/>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solid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7" name="Shape 147"/>
          <p:cNvSpPr/>
          <p:nvPr>
            <p:ph type="sldImg"/>
          </p:nvPr>
        </p:nvSpPr>
        <p:spPr>
          <a:xfrm>
            <a:off x="1143000" y="685800"/>
            <a:ext cx="4572000" cy="3429000"/>
          </a:xfrm>
          <a:prstGeom prst="rect">
            <a:avLst/>
          </a:prstGeom>
        </p:spPr>
        <p:txBody>
          <a:bodyPr/>
          <a:lstStyle/>
          <a:p>
            <a:pPr/>
          </a:p>
        </p:txBody>
      </p:sp>
      <p:sp>
        <p:nvSpPr>
          <p:cNvPr id="148" name="Shape 14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 master">
    <p:bg>
      <p:bgPr>
        <a:solidFill>
          <a:srgbClr val="000000"/>
        </a:solidFill>
      </p:bgPr>
    </p:bg>
    <p:spTree>
      <p:nvGrpSpPr>
        <p:cNvPr id="1" name=""/>
        <p:cNvGrpSpPr/>
        <p:nvPr/>
      </p:nvGrpSpPr>
      <p:grpSpPr>
        <a:xfrm>
          <a:off x="0" y="0"/>
          <a:ext cx="0" cy="0"/>
          <a:chOff x="0" y="0"/>
          <a:chExt cx="0" cy="0"/>
        </a:xfrm>
      </p:grpSpPr>
      <p:pic>
        <p:nvPicPr>
          <p:cNvPr id="18"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19" name="Shape 0"/>
          <p:cNvSpPr/>
          <p:nvPr/>
        </p:nvSpPr>
        <p:spPr>
          <a:xfrm>
            <a:off x="0" y="0"/>
            <a:ext cx="14630400" cy="8229600"/>
          </a:xfrm>
          <a:prstGeom prst="rect">
            <a:avLst/>
          </a:prstGeom>
          <a:solidFill>
            <a:srgbClr val="0B0C23">
              <a:alpha val="95000"/>
            </a:srgbClr>
          </a:solidFill>
          <a:ln w="12700">
            <a:miter lim="400000"/>
          </a:ln>
        </p:spPr>
        <p:txBody>
          <a:bodyPr lIns="45718" tIns="45718" rIns="45718" bIns="45718"/>
          <a:lstStyle/>
          <a:p>
            <a:pPr>
              <a:defRPr>
                <a:latin typeface="+mj-lt"/>
                <a:ea typeface="+mj-ea"/>
                <a:cs typeface="+mj-cs"/>
                <a:sym typeface="Calibri"/>
              </a:defRPr>
            </a:pPr>
          </a:p>
        </p:txBody>
      </p:sp>
      <p:pic>
        <p:nvPicPr>
          <p:cNvPr id="20" name="Image 1" descr="Image 1">
            <a:hlinkClick r:id="rId3" invalidUrl="" action="" tgtFrame="" tooltip="" history="1" highlightClick="0" endSnd="0"/>
          </p:cNvPr>
          <p:cNvPicPr>
            <a:picLocks noChangeAspect="1"/>
          </p:cNvPicPr>
          <p:nvPr/>
        </p:nvPicPr>
        <p:blipFill>
          <a:blip r:embed="rId4">
            <a:extLst/>
          </a:blip>
          <a:stretch>
            <a:fillRect/>
          </a:stretch>
        </p:blipFill>
        <p:spPr>
          <a:xfrm>
            <a:off x="12839213" y="7749540"/>
            <a:ext cx="1722608" cy="411482"/>
          </a:xfrm>
          <a:prstGeom prst="rect">
            <a:avLst/>
          </a:prstGeom>
          <a:ln w="12700">
            <a:miter lim="400000"/>
          </a:ln>
        </p:spPr>
      </p:pic>
      <p:sp>
        <p:nvSpPr>
          <p:cNvPr id="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2 master">
    <p:bg>
      <p:bgPr>
        <a:solidFill>
          <a:srgbClr val="000000"/>
        </a:solidFill>
      </p:bgPr>
    </p:bg>
    <p:spTree>
      <p:nvGrpSpPr>
        <p:cNvPr id="1" name=""/>
        <p:cNvGrpSpPr/>
        <p:nvPr/>
      </p:nvGrpSpPr>
      <p:grpSpPr>
        <a:xfrm>
          <a:off x="0" y="0"/>
          <a:ext cx="0" cy="0"/>
          <a:chOff x="0" y="0"/>
          <a:chExt cx="0" cy="0"/>
        </a:xfrm>
      </p:grpSpPr>
      <p:pic>
        <p:nvPicPr>
          <p:cNvPr id="28"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29" name="Shape 0"/>
          <p:cNvSpPr/>
          <p:nvPr/>
        </p:nvSpPr>
        <p:spPr>
          <a:xfrm>
            <a:off x="0" y="0"/>
            <a:ext cx="14630400" cy="8229600"/>
          </a:xfrm>
          <a:prstGeom prst="rect">
            <a:avLst/>
          </a:prstGeom>
          <a:solidFill>
            <a:srgbClr val="0B0C23">
              <a:alpha val="95000"/>
            </a:srgbClr>
          </a:solidFill>
          <a:ln w="12700">
            <a:miter lim="400000"/>
          </a:ln>
        </p:spPr>
        <p:txBody>
          <a:bodyPr lIns="45718" tIns="45718" rIns="45718" bIns="45718"/>
          <a:lstStyle/>
          <a:p>
            <a:pPr>
              <a:defRPr>
                <a:latin typeface="+mj-lt"/>
                <a:ea typeface="+mj-ea"/>
                <a:cs typeface="+mj-cs"/>
                <a:sym typeface="Calibri"/>
              </a:defRPr>
            </a:pPr>
          </a:p>
        </p:txBody>
      </p:sp>
      <p:pic>
        <p:nvPicPr>
          <p:cNvPr id="30" name="Image 1" descr="Image 1">
            <a:hlinkClick r:id="rId3" invalidUrl="" action="" tgtFrame="" tooltip="" history="1" highlightClick="0" endSnd="0"/>
          </p:cNvPr>
          <p:cNvPicPr>
            <a:picLocks noChangeAspect="1"/>
          </p:cNvPicPr>
          <p:nvPr/>
        </p:nvPicPr>
        <p:blipFill>
          <a:blip r:embed="rId4">
            <a:extLst/>
          </a:blip>
          <a:stretch>
            <a:fillRect/>
          </a:stretch>
        </p:blipFill>
        <p:spPr>
          <a:xfrm>
            <a:off x="12839213" y="7749540"/>
            <a:ext cx="1722608" cy="411482"/>
          </a:xfrm>
          <a:prstGeom prst="rect">
            <a:avLst/>
          </a:prstGeom>
          <a:ln w="12700">
            <a:miter lim="400000"/>
          </a:ln>
        </p:spPr>
      </p:pic>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3 master">
    <p:bg>
      <p:bgPr>
        <a:solidFill>
          <a:srgbClr val="000000"/>
        </a:solidFill>
      </p:bgPr>
    </p:bg>
    <p:spTree>
      <p:nvGrpSpPr>
        <p:cNvPr id="1" name=""/>
        <p:cNvGrpSpPr/>
        <p:nvPr/>
      </p:nvGrpSpPr>
      <p:grpSpPr>
        <a:xfrm>
          <a:off x="0" y="0"/>
          <a:ext cx="0" cy="0"/>
          <a:chOff x="0" y="0"/>
          <a:chExt cx="0" cy="0"/>
        </a:xfrm>
      </p:grpSpPr>
      <p:pic>
        <p:nvPicPr>
          <p:cNvPr id="38"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39" name="Shape 0"/>
          <p:cNvSpPr/>
          <p:nvPr/>
        </p:nvSpPr>
        <p:spPr>
          <a:xfrm>
            <a:off x="0" y="0"/>
            <a:ext cx="14630400" cy="8229600"/>
          </a:xfrm>
          <a:prstGeom prst="rect">
            <a:avLst/>
          </a:prstGeom>
          <a:solidFill>
            <a:srgbClr val="0B0C23">
              <a:alpha val="95000"/>
            </a:srgbClr>
          </a:solidFill>
          <a:ln w="12700">
            <a:miter lim="400000"/>
          </a:ln>
        </p:spPr>
        <p:txBody>
          <a:bodyPr lIns="45718" tIns="45718" rIns="45718" bIns="45718"/>
          <a:lstStyle/>
          <a:p>
            <a:pPr>
              <a:defRPr>
                <a:latin typeface="+mj-lt"/>
                <a:ea typeface="+mj-ea"/>
                <a:cs typeface="+mj-cs"/>
                <a:sym typeface="Calibri"/>
              </a:defRPr>
            </a:pPr>
          </a:p>
        </p:txBody>
      </p:sp>
      <p:pic>
        <p:nvPicPr>
          <p:cNvPr id="40" name="Image 1" descr="Image 1">
            <a:hlinkClick r:id="rId3" invalidUrl="" action="" tgtFrame="" tooltip="" history="1" highlightClick="0" endSnd="0"/>
          </p:cNvPr>
          <p:cNvPicPr>
            <a:picLocks noChangeAspect="1"/>
          </p:cNvPicPr>
          <p:nvPr/>
        </p:nvPicPr>
        <p:blipFill>
          <a:blip r:embed="rId4">
            <a:extLst/>
          </a:blip>
          <a:stretch>
            <a:fillRect/>
          </a:stretch>
        </p:blipFill>
        <p:spPr>
          <a:xfrm>
            <a:off x="12839213" y="7749540"/>
            <a:ext cx="1722608" cy="411482"/>
          </a:xfrm>
          <a:prstGeom prst="rect">
            <a:avLst/>
          </a:prstGeom>
          <a:ln w="12700">
            <a:miter lim="400000"/>
          </a:ln>
        </p:spPr>
      </p:pic>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4 master">
    <p:bg>
      <p:bgPr>
        <a:solidFill>
          <a:srgbClr val="000000"/>
        </a:solidFill>
      </p:bgPr>
    </p:bg>
    <p:spTree>
      <p:nvGrpSpPr>
        <p:cNvPr id="1" name=""/>
        <p:cNvGrpSpPr/>
        <p:nvPr/>
      </p:nvGrpSpPr>
      <p:grpSpPr>
        <a:xfrm>
          <a:off x="0" y="0"/>
          <a:ext cx="0" cy="0"/>
          <a:chOff x="0" y="0"/>
          <a:chExt cx="0" cy="0"/>
        </a:xfrm>
      </p:grpSpPr>
      <p:pic>
        <p:nvPicPr>
          <p:cNvPr id="48"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49" name="Shape 0"/>
          <p:cNvSpPr/>
          <p:nvPr/>
        </p:nvSpPr>
        <p:spPr>
          <a:xfrm>
            <a:off x="0" y="0"/>
            <a:ext cx="14630400" cy="8229600"/>
          </a:xfrm>
          <a:prstGeom prst="rect">
            <a:avLst/>
          </a:prstGeom>
          <a:solidFill>
            <a:srgbClr val="0B0C23">
              <a:alpha val="95000"/>
            </a:srgbClr>
          </a:solidFill>
          <a:ln w="12700">
            <a:miter lim="400000"/>
          </a:ln>
        </p:spPr>
        <p:txBody>
          <a:bodyPr lIns="45718" tIns="45718" rIns="45718" bIns="45718"/>
          <a:lstStyle/>
          <a:p>
            <a:pPr>
              <a:defRPr>
                <a:latin typeface="+mj-lt"/>
                <a:ea typeface="+mj-ea"/>
                <a:cs typeface="+mj-cs"/>
                <a:sym typeface="Calibri"/>
              </a:defRPr>
            </a:pPr>
          </a:p>
        </p:txBody>
      </p:sp>
      <p:pic>
        <p:nvPicPr>
          <p:cNvPr id="50" name="Image 1" descr="Image 1">
            <a:hlinkClick r:id="rId3" invalidUrl="" action="" tgtFrame="" tooltip="" history="1" highlightClick="0" endSnd="0"/>
          </p:cNvPr>
          <p:cNvPicPr>
            <a:picLocks noChangeAspect="1"/>
          </p:cNvPicPr>
          <p:nvPr/>
        </p:nvPicPr>
        <p:blipFill>
          <a:blip r:embed="rId4">
            <a:extLst/>
          </a:blip>
          <a:stretch>
            <a:fillRect/>
          </a:stretch>
        </p:blipFill>
        <p:spPr>
          <a:xfrm>
            <a:off x="12839213" y="7749540"/>
            <a:ext cx="1722608" cy="411482"/>
          </a:xfrm>
          <a:prstGeom prst="rect">
            <a:avLst/>
          </a:prstGeom>
          <a:ln w="12700">
            <a:miter lim="400000"/>
          </a:ln>
        </p:spPr>
      </p:pic>
      <p:sp>
        <p:nvSpPr>
          <p:cNvPr id="5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5 master">
    <p:bg>
      <p:bgPr>
        <a:solidFill>
          <a:srgbClr val="000000"/>
        </a:solidFill>
      </p:bgPr>
    </p:bg>
    <p:spTree>
      <p:nvGrpSpPr>
        <p:cNvPr id="1" name=""/>
        <p:cNvGrpSpPr/>
        <p:nvPr/>
      </p:nvGrpSpPr>
      <p:grpSpPr>
        <a:xfrm>
          <a:off x="0" y="0"/>
          <a:ext cx="0" cy="0"/>
          <a:chOff x="0" y="0"/>
          <a:chExt cx="0" cy="0"/>
        </a:xfrm>
      </p:grpSpPr>
      <p:pic>
        <p:nvPicPr>
          <p:cNvPr id="58"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59" name="Shape 0"/>
          <p:cNvSpPr/>
          <p:nvPr/>
        </p:nvSpPr>
        <p:spPr>
          <a:xfrm>
            <a:off x="0" y="0"/>
            <a:ext cx="14630400" cy="8229600"/>
          </a:xfrm>
          <a:prstGeom prst="rect">
            <a:avLst/>
          </a:prstGeom>
          <a:solidFill>
            <a:srgbClr val="0B0C23">
              <a:alpha val="95000"/>
            </a:srgbClr>
          </a:solidFill>
          <a:ln w="12700">
            <a:miter lim="400000"/>
          </a:ln>
        </p:spPr>
        <p:txBody>
          <a:bodyPr lIns="45718" tIns="45718" rIns="45718" bIns="45718"/>
          <a:lstStyle/>
          <a:p>
            <a:pPr>
              <a:defRPr>
                <a:latin typeface="+mj-lt"/>
                <a:ea typeface="+mj-ea"/>
                <a:cs typeface="+mj-cs"/>
                <a:sym typeface="Calibri"/>
              </a:defRPr>
            </a:pPr>
          </a:p>
        </p:txBody>
      </p:sp>
      <p:pic>
        <p:nvPicPr>
          <p:cNvPr id="60" name="Image 1" descr="Image 1">
            <a:hlinkClick r:id="rId3" invalidUrl="" action="" tgtFrame="" tooltip="" history="1" highlightClick="0" endSnd="0"/>
          </p:cNvPr>
          <p:cNvPicPr>
            <a:picLocks noChangeAspect="1"/>
          </p:cNvPicPr>
          <p:nvPr/>
        </p:nvPicPr>
        <p:blipFill>
          <a:blip r:embed="rId4">
            <a:extLst/>
          </a:blip>
          <a:stretch>
            <a:fillRect/>
          </a:stretch>
        </p:blipFill>
        <p:spPr>
          <a:xfrm>
            <a:off x="12839213" y="7749540"/>
            <a:ext cx="1722608" cy="411482"/>
          </a:xfrm>
          <a:prstGeom prst="rect">
            <a:avLst/>
          </a:prstGeom>
          <a:ln w="12700">
            <a:miter lim="400000"/>
          </a:ln>
        </p:spPr>
      </p:pic>
      <p:sp>
        <p:nvSpPr>
          <p:cNvPr id="6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6 master">
    <p:bg>
      <p:bgPr>
        <a:solidFill>
          <a:srgbClr val="000000"/>
        </a:solidFill>
      </p:bgPr>
    </p:bg>
    <p:spTree>
      <p:nvGrpSpPr>
        <p:cNvPr id="1" name=""/>
        <p:cNvGrpSpPr/>
        <p:nvPr/>
      </p:nvGrpSpPr>
      <p:grpSpPr>
        <a:xfrm>
          <a:off x="0" y="0"/>
          <a:ext cx="0" cy="0"/>
          <a:chOff x="0" y="0"/>
          <a:chExt cx="0" cy="0"/>
        </a:xfrm>
      </p:grpSpPr>
      <p:pic>
        <p:nvPicPr>
          <p:cNvPr id="68"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69" name="Shape 0"/>
          <p:cNvSpPr/>
          <p:nvPr/>
        </p:nvSpPr>
        <p:spPr>
          <a:xfrm>
            <a:off x="0" y="0"/>
            <a:ext cx="14630400" cy="8229600"/>
          </a:xfrm>
          <a:prstGeom prst="rect">
            <a:avLst/>
          </a:prstGeom>
          <a:solidFill>
            <a:srgbClr val="0B0C23">
              <a:alpha val="95000"/>
            </a:srgbClr>
          </a:solidFill>
          <a:ln w="12700">
            <a:miter lim="400000"/>
          </a:ln>
        </p:spPr>
        <p:txBody>
          <a:bodyPr lIns="45718" tIns="45718" rIns="45718" bIns="45718"/>
          <a:lstStyle/>
          <a:p>
            <a:pPr>
              <a:defRPr>
                <a:latin typeface="+mj-lt"/>
                <a:ea typeface="+mj-ea"/>
                <a:cs typeface="+mj-cs"/>
                <a:sym typeface="Calibri"/>
              </a:defRPr>
            </a:pPr>
          </a:p>
        </p:txBody>
      </p:sp>
      <p:pic>
        <p:nvPicPr>
          <p:cNvPr id="70" name="Image 1" descr="Image 1">
            <a:hlinkClick r:id="rId3" invalidUrl="" action="" tgtFrame="" tooltip="" history="1" highlightClick="0" endSnd="0"/>
          </p:cNvPr>
          <p:cNvPicPr>
            <a:picLocks noChangeAspect="1"/>
          </p:cNvPicPr>
          <p:nvPr/>
        </p:nvPicPr>
        <p:blipFill>
          <a:blip r:embed="rId4">
            <a:extLst/>
          </a:blip>
          <a:stretch>
            <a:fillRect/>
          </a:stretch>
        </p:blipFill>
        <p:spPr>
          <a:xfrm>
            <a:off x="12839213" y="7749540"/>
            <a:ext cx="1722608" cy="411482"/>
          </a:xfrm>
          <a:prstGeom prst="rect">
            <a:avLst/>
          </a:prstGeom>
          <a:ln w="12700">
            <a:miter lim="400000"/>
          </a:ln>
        </p:spPr>
      </p:pic>
      <p:sp>
        <p:nvSpPr>
          <p:cNvPr id="7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7 master">
    <p:bg>
      <p:bgPr>
        <a:solidFill>
          <a:srgbClr val="000000"/>
        </a:solidFill>
      </p:bgPr>
    </p:bg>
    <p:spTree>
      <p:nvGrpSpPr>
        <p:cNvPr id="1" name=""/>
        <p:cNvGrpSpPr/>
        <p:nvPr/>
      </p:nvGrpSpPr>
      <p:grpSpPr>
        <a:xfrm>
          <a:off x="0" y="0"/>
          <a:ext cx="0" cy="0"/>
          <a:chOff x="0" y="0"/>
          <a:chExt cx="0" cy="0"/>
        </a:xfrm>
      </p:grpSpPr>
      <p:pic>
        <p:nvPicPr>
          <p:cNvPr id="78"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79" name="Shape 0"/>
          <p:cNvSpPr/>
          <p:nvPr/>
        </p:nvSpPr>
        <p:spPr>
          <a:xfrm>
            <a:off x="0" y="0"/>
            <a:ext cx="14630400" cy="8229600"/>
          </a:xfrm>
          <a:prstGeom prst="rect">
            <a:avLst/>
          </a:prstGeom>
          <a:solidFill>
            <a:srgbClr val="0B0C23">
              <a:alpha val="95000"/>
            </a:srgbClr>
          </a:solidFill>
          <a:ln w="12700">
            <a:miter lim="400000"/>
          </a:ln>
        </p:spPr>
        <p:txBody>
          <a:bodyPr lIns="45718" tIns="45718" rIns="45718" bIns="45718"/>
          <a:lstStyle/>
          <a:p>
            <a:pPr>
              <a:defRPr>
                <a:latin typeface="+mj-lt"/>
                <a:ea typeface="+mj-ea"/>
                <a:cs typeface="+mj-cs"/>
                <a:sym typeface="Calibri"/>
              </a:defRPr>
            </a:pPr>
          </a:p>
        </p:txBody>
      </p:sp>
      <p:pic>
        <p:nvPicPr>
          <p:cNvPr id="80" name="Image 1" descr="Image 1">
            <a:hlinkClick r:id="rId3" invalidUrl="" action="" tgtFrame="" tooltip="" history="1" highlightClick="0" endSnd="0"/>
          </p:cNvPr>
          <p:cNvPicPr>
            <a:picLocks noChangeAspect="1"/>
          </p:cNvPicPr>
          <p:nvPr/>
        </p:nvPicPr>
        <p:blipFill>
          <a:blip r:embed="rId4">
            <a:extLst/>
          </a:blip>
          <a:stretch>
            <a:fillRect/>
          </a:stretch>
        </p:blipFill>
        <p:spPr>
          <a:xfrm>
            <a:off x="12839213" y="7749540"/>
            <a:ext cx="1722608" cy="411482"/>
          </a:xfrm>
          <a:prstGeom prst="rect">
            <a:avLst/>
          </a:prstGeom>
          <a:ln w="12700">
            <a:miter lim="400000"/>
          </a:ln>
        </p:spPr>
      </p:pic>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8 master">
    <p:bg>
      <p:bgPr>
        <a:solidFill>
          <a:srgbClr val="000000"/>
        </a:solidFill>
      </p:bgPr>
    </p:bg>
    <p:spTree>
      <p:nvGrpSpPr>
        <p:cNvPr id="1" name=""/>
        <p:cNvGrpSpPr/>
        <p:nvPr/>
      </p:nvGrpSpPr>
      <p:grpSpPr>
        <a:xfrm>
          <a:off x="0" y="0"/>
          <a:ext cx="0" cy="0"/>
          <a:chOff x="0" y="0"/>
          <a:chExt cx="0" cy="0"/>
        </a:xfrm>
      </p:grpSpPr>
      <p:pic>
        <p:nvPicPr>
          <p:cNvPr id="88"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89" name="Shape 0"/>
          <p:cNvSpPr/>
          <p:nvPr/>
        </p:nvSpPr>
        <p:spPr>
          <a:xfrm>
            <a:off x="0" y="0"/>
            <a:ext cx="14630400" cy="8229600"/>
          </a:xfrm>
          <a:prstGeom prst="rect">
            <a:avLst/>
          </a:prstGeom>
          <a:solidFill>
            <a:srgbClr val="0B0C23">
              <a:alpha val="95000"/>
            </a:srgbClr>
          </a:solidFill>
          <a:ln w="12700">
            <a:miter lim="400000"/>
          </a:ln>
        </p:spPr>
        <p:txBody>
          <a:bodyPr lIns="45718" tIns="45718" rIns="45718" bIns="45718"/>
          <a:lstStyle/>
          <a:p>
            <a:pPr>
              <a:defRPr>
                <a:latin typeface="+mj-lt"/>
                <a:ea typeface="+mj-ea"/>
                <a:cs typeface="+mj-cs"/>
                <a:sym typeface="Calibri"/>
              </a:defRPr>
            </a:pPr>
          </a:p>
        </p:txBody>
      </p:sp>
      <p:pic>
        <p:nvPicPr>
          <p:cNvPr id="90" name="Image 1" descr="Image 1">
            <a:hlinkClick r:id="rId3" invalidUrl="" action="" tgtFrame="" tooltip="" history="1" highlightClick="0" endSnd="0"/>
          </p:cNvPr>
          <p:cNvPicPr>
            <a:picLocks noChangeAspect="1"/>
          </p:cNvPicPr>
          <p:nvPr/>
        </p:nvPicPr>
        <p:blipFill>
          <a:blip r:embed="rId4">
            <a:extLst/>
          </a:blip>
          <a:stretch>
            <a:fillRect/>
          </a:stretch>
        </p:blipFill>
        <p:spPr>
          <a:xfrm>
            <a:off x="12839213" y="7749540"/>
            <a:ext cx="1722608" cy="411482"/>
          </a:xfrm>
          <a:prstGeom prst="rect">
            <a:avLst/>
          </a:prstGeom>
          <a:ln w="12700">
            <a:miter lim="400000"/>
          </a:ln>
        </p:spPr>
      </p:pic>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9 master">
    <p:bg>
      <p:bgPr>
        <a:solidFill>
          <a:srgbClr val="000000"/>
        </a:solidFill>
      </p:bgPr>
    </p:bg>
    <p:spTree>
      <p:nvGrpSpPr>
        <p:cNvPr id="1" name=""/>
        <p:cNvGrpSpPr/>
        <p:nvPr/>
      </p:nvGrpSpPr>
      <p:grpSpPr>
        <a:xfrm>
          <a:off x="0" y="0"/>
          <a:ext cx="0" cy="0"/>
          <a:chOff x="0" y="0"/>
          <a:chExt cx="0" cy="0"/>
        </a:xfrm>
      </p:grpSpPr>
      <p:pic>
        <p:nvPicPr>
          <p:cNvPr id="98"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99" name="Shape 0"/>
          <p:cNvSpPr/>
          <p:nvPr/>
        </p:nvSpPr>
        <p:spPr>
          <a:xfrm>
            <a:off x="0" y="0"/>
            <a:ext cx="14630400" cy="8229600"/>
          </a:xfrm>
          <a:prstGeom prst="rect">
            <a:avLst/>
          </a:prstGeom>
          <a:solidFill>
            <a:srgbClr val="0B0C23">
              <a:alpha val="95000"/>
            </a:srgbClr>
          </a:solidFill>
          <a:ln w="12700">
            <a:miter lim="400000"/>
          </a:ln>
        </p:spPr>
        <p:txBody>
          <a:bodyPr lIns="45718" tIns="45718" rIns="45718" bIns="45718"/>
          <a:lstStyle/>
          <a:p>
            <a:pPr>
              <a:defRPr>
                <a:latin typeface="+mj-lt"/>
                <a:ea typeface="+mj-ea"/>
                <a:cs typeface="+mj-cs"/>
                <a:sym typeface="Calibri"/>
              </a:defRPr>
            </a:pPr>
          </a:p>
        </p:txBody>
      </p:sp>
      <p:pic>
        <p:nvPicPr>
          <p:cNvPr id="100" name="Image 1" descr="Image 1">
            <a:hlinkClick r:id="rId3" invalidUrl="" action="" tgtFrame="" tooltip="" history="1" highlightClick="0" endSnd="0"/>
          </p:cNvPr>
          <p:cNvPicPr>
            <a:picLocks noChangeAspect="1"/>
          </p:cNvPicPr>
          <p:nvPr/>
        </p:nvPicPr>
        <p:blipFill>
          <a:blip r:embed="rId4">
            <a:extLst/>
          </a:blip>
          <a:stretch>
            <a:fillRect/>
          </a:stretch>
        </p:blipFill>
        <p:spPr>
          <a:xfrm>
            <a:off x="12839213" y="7749540"/>
            <a:ext cx="1722608" cy="411482"/>
          </a:xfrm>
          <a:prstGeom prst="rect">
            <a:avLst/>
          </a:prstGeom>
          <a:ln w="12700">
            <a:miter lim="400000"/>
          </a:ln>
        </p:spPr>
      </p:pic>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0 master">
    <p:bg>
      <p:bgPr>
        <a:solidFill>
          <a:srgbClr val="000000"/>
        </a:solidFill>
      </p:bgPr>
    </p:bg>
    <p:spTree>
      <p:nvGrpSpPr>
        <p:cNvPr id="1" name=""/>
        <p:cNvGrpSpPr/>
        <p:nvPr/>
      </p:nvGrpSpPr>
      <p:grpSpPr>
        <a:xfrm>
          <a:off x="0" y="0"/>
          <a:ext cx="0" cy="0"/>
          <a:chOff x="0" y="0"/>
          <a:chExt cx="0" cy="0"/>
        </a:xfrm>
      </p:grpSpPr>
      <p:pic>
        <p:nvPicPr>
          <p:cNvPr id="108"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109" name="Shape 0"/>
          <p:cNvSpPr/>
          <p:nvPr/>
        </p:nvSpPr>
        <p:spPr>
          <a:xfrm>
            <a:off x="0" y="0"/>
            <a:ext cx="14630400" cy="8229600"/>
          </a:xfrm>
          <a:prstGeom prst="rect">
            <a:avLst/>
          </a:prstGeom>
          <a:solidFill>
            <a:srgbClr val="0B0C23">
              <a:alpha val="95000"/>
            </a:srgbClr>
          </a:solidFill>
          <a:ln w="12700">
            <a:miter lim="400000"/>
          </a:ln>
        </p:spPr>
        <p:txBody>
          <a:bodyPr lIns="45718" tIns="45718" rIns="45718" bIns="45718"/>
          <a:lstStyle/>
          <a:p>
            <a:pPr>
              <a:defRPr>
                <a:latin typeface="+mj-lt"/>
                <a:ea typeface="+mj-ea"/>
                <a:cs typeface="+mj-cs"/>
                <a:sym typeface="Calibri"/>
              </a:defRPr>
            </a:pPr>
          </a:p>
        </p:txBody>
      </p:sp>
      <p:pic>
        <p:nvPicPr>
          <p:cNvPr id="110" name="Image 1" descr="Image 1">
            <a:hlinkClick r:id="rId3" invalidUrl="" action="" tgtFrame="" tooltip="" history="1" highlightClick="0" endSnd="0"/>
          </p:cNvPr>
          <p:cNvPicPr>
            <a:picLocks noChangeAspect="1"/>
          </p:cNvPicPr>
          <p:nvPr/>
        </p:nvPicPr>
        <p:blipFill>
          <a:blip r:embed="rId4">
            <a:extLst/>
          </a:blip>
          <a:stretch>
            <a:fillRect/>
          </a:stretch>
        </p:blipFill>
        <p:spPr>
          <a:xfrm>
            <a:off x="12839213" y="7749540"/>
            <a:ext cx="1722608" cy="411482"/>
          </a:xfrm>
          <a:prstGeom prst="rect">
            <a:avLst/>
          </a:prstGeom>
          <a:ln w="12700">
            <a:miter lim="400000"/>
          </a:ln>
        </p:spPr>
      </p:pic>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1 master">
    <p:bg>
      <p:bgPr>
        <a:solidFill>
          <a:srgbClr val="000000"/>
        </a:solidFill>
      </p:bgPr>
    </p:bg>
    <p:spTree>
      <p:nvGrpSpPr>
        <p:cNvPr id="1" name=""/>
        <p:cNvGrpSpPr/>
        <p:nvPr/>
      </p:nvGrpSpPr>
      <p:grpSpPr>
        <a:xfrm>
          <a:off x="0" y="0"/>
          <a:ext cx="0" cy="0"/>
          <a:chOff x="0" y="0"/>
          <a:chExt cx="0" cy="0"/>
        </a:xfrm>
      </p:grpSpPr>
      <p:pic>
        <p:nvPicPr>
          <p:cNvPr id="118"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119" name="Shape 0"/>
          <p:cNvSpPr/>
          <p:nvPr/>
        </p:nvSpPr>
        <p:spPr>
          <a:xfrm>
            <a:off x="0" y="0"/>
            <a:ext cx="14630400" cy="8229600"/>
          </a:xfrm>
          <a:prstGeom prst="rect">
            <a:avLst/>
          </a:prstGeom>
          <a:solidFill>
            <a:srgbClr val="0B0C23">
              <a:alpha val="95000"/>
            </a:srgbClr>
          </a:solidFill>
          <a:ln w="12700">
            <a:miter lim="400000"/>
          </a:ln>
        </p:spPr>
        <p:txBody>
          <a:bodyPr lIns="45718" tIns="45718" rIns="45718" bIns="45718"/>
          <a:lstStyle/>
          <a:p>
            <a:pPr>
              <a:defRPr>
                <a:latin typeface="+mj-lt"/>
                <a:ea typeface="+mj-ea"/>
                <a:cs typeface="+mj-cs"/>
                <a:sym typeface="Calibri"/>
              </a:defRPr>
            </a:pPr>
          </a:p>
        </p:txBody>
      </p:sp>
      <p:pic>
        <p:nvPicPr>
          <p:cNvPr id="120" name="Image 1" descr="Image 1">
            <a:hlinkClick r:id="rId3" invalidUrl="" action="" tgtFrame="" tooltip="" history="1" highlightClick="0" endSnd="0"/>
          </p:cNvPr>
          <p:cNvPicPr>
            <a:picLocks noChangeAspect="1"/>
          </p:cNvPicPr>
          <p:nvPr/>
        </p:nvPicPr>
        <p:blipFill>
          <a:blip r:embed="rId4">
            <a:extLst/>
          </a:blip>
          <a:stretch>
            <a:fillRect/>
          </a:stretch>
        </p:blipFill>
        <p:spPr>
          <a:xfrm>
            <a:off x="12839213" y="7749540"/>
            <a:ext cx="1722608" cy="411482"/>
          </a:xfrm>
          <a:prstGeom prst="rect">
            <a:avLst/>
          </a:prstGeom>
          <a:ln w="12700">
            <a:miter lim="400000"/>
          </a:ln>
        </p:spPr>
      </p:pic>
      <p:sp>
        <p:nvSpPr>
          <p:cNvPr id="1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2 master">
    <p:bg>
      <p:bgPr>
        <a:solidFill>
          <a:srgbClr val="000000"/>
        </a:solidFill>
      </p:bgPr>
    </p:bg>
    <p:spTree>
      <p:nvGrpSpPr>
        <p:cNvPr id="1" name=""/>
        <p:cNvGrpSpPr/>
        <p:nvPr/>
      </p:nvGrpSpPr>
      <p:grpSpPr>
        <a:xfrm>
          <a:off x="0" y="0"/>
          <a:ext cx="0" cy="0"/>
          <a:chOff x="0" y="0"/>
          <a:chExt cx="0" cy="0"/>
        </a:xfrm>
      </p:grpSpPr>
      <p:pic>
        <p:nvPicPr>
          <p:cNvPr id="128"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129" name="Shape 0"/>
          <p:cNvSpPr/>
          <p:nvPr/>
        </p:nvSpPr>
        <p:spPr>
          <a:xfrm>
            <a:off x="0" y="0"/>
            <a:ext cx="14630400" cy="8229600"/>
          </a:xfrm>
          <a:prstGeom prst="rect">
            <a:avLst/>
          </a:prstGeom>
          <a:solidFill>
            <a:srgbClr val="0B0C23">
              <a:alpha val="95000"/>
            </a:srgbClr>
          </a:solidFill>
          <a:ln w="12700">
            <a:miter lim="400000"/>
          </a:ln>
        </p:spPr>
        <p:txBody>
          <a:bodyPr lIns="45718" tIns="45718" rIns="45718" bIns="45718"/>
          <a:lstStyle/>
          <a:p>
            <a:pPr>
              <a:defRPr>
                <a:latin typeface="+mj-lt"/>
                <a:ea typeface="+mj-ea"/>
                <a:cs typeface="+mj-cs"/>
                <a:sym typeface="Calibri"/>
              </a:defRPr>
            </a:pPr>
          </a:p>
        </p:txBody>
      </p:sp>
      <p:pic>
        <p:nvPicPr>
          <p:cNvPr id="130" name="Image 1" descr="Image 1">
            <a:hlinkClick r:id="rId3" invalidUrl="" action="" tgtFrame="" tooltip="" history="1" highlightClick="0" endSnd="0"/>
          </p:cNvPr>
          <p:cNvPicPr>
            <a:picLocks noChangeAspect="1"/>
          </p:cNvPicPr>
          <p:nvPr/>
        </p:nvPicPr>
        <p:blipFill>
          <a:blip r:embed="rId4">
            <a:extLst/>
          </a:blip>
          <a:stretch>
            <a:fillRect/>
          </a:stretch>
        </p:blipFill>
        <p:spPr>
          <a:xfrm>
            <a:off x="12839213" y="7749540"/>
            <a:ext cx="1722608" cy="411482"/>
          </a:xfrm>
          <a:prstGeom prst="rect">
            <a:avLst/>
          </a:prstGeom>
          <a:ln w="12700">
            <a:miter lim="400000"/>
          </a:ln>
        </p:spPr>
      </p:pic>
      <p:sp>
        <p:nvSpPr>
          <p:cNvPr id="1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lide 13 master">
    <p:bg>
      <p:bgPr>
        <a:solidFill>
          <a:srgbClr val="000000"/>
        </a:solidFill>
      </p:bgPr>
    </p:bg>
    <p:spTree>
      <p:nvGrpSpPr>
        <p:cNvPr id="1" name=""/>
        <p:cNvGrpSpPr/>
        <p:nvPr/>
      </p:nvGrpSpPr>
      <p:grpSpPr>
        <a:xfrm>
          <a:off x="0" y="0"/>
          <a:ext cx="0" cy="0"/>
          <a:chOff x="0" y="0"/>
          <a:chExt cx="0" cy="0"/>
        </a:xfrm>
      </p:grpSpPr>
      <p:pic>
        <p:nvPicPr>
          <p:cNvPr id="138"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139" name="Shape 0"/>
          <p:cNvSpPr/>
          <p:nvPr/>
        </p:nvSpPr>
        <p:spPr>
          <a:xfrm>
            <a:off x="0" y="0"/>
            <a:ext cx="14630400" cy="8229600"/>
          </a:xfrm>
          <a:prstGeom prst="rect">
            <a:avLst/>
          </a:prstGeom>
          <a:solidFill>
            <a:srgbClr val="0B0C23">
              <a:alpha val="95000"/>
            </a:srgbClr>
          </a:solidFill>
          <a:ln w="12700">
            <a:miter lim="400000"/>
          </a:ln>
        </p:spPr>
        <p:txBody>
          <a:bodyPr lIns="45718" tIns="45718" rIns="45718" bIns="45718"/>
          <a:lstStyle/>
          <a:p>
            <a:pPr>
              <a:defRPr>
                <a:latin typeface="+mj-lt"/>
                <a:ea typeface="+mj-ea"/>
                <a:cs typeface="+mj-cs"/>
                <a:sym typeface="Calibri"/>
              </a:defRPr>
            </a:pPr>
          </a:p>
        </p:txBody>
      </p:sp>
      <p:pic>
        <p:nvPicPr>
          <p:cNvPr id="140" name="Image 1" descr="Image 1">
            <a:hlinkClick r:id="rId3" invalidUrl="" action="" tgtFrame="" tooltip="" history="1" highlightClick="0" endSnd="0"/>
          </p:cNvPr>
          <p:cNvPicPr>
            <a:picLocks noChangeAspect="1"/>
          </p:cNvPicPr>
          <p:nvPr/>
        </p:nvPicPr>
        <p:blipFill>
          <a:blip r:embed="rId4">
            <a:extLst/>
          </a:blip>
          <a:stretch>
            <a:fillRect/>
          </a:stretch>
        </p:blipFill>
        <p:spPr>
          <a:xfrm>
            <a:off x="12839213" y="7749540"/>
            <a:ext cx="1722608" cy="411482"/>
          </a:xfrm>
          <a:prstGeom prst="rect">
            <a:avLst/>
          </a:prstGeom>
          <a:ln w="12700">
            <a:miter lim="400000"/>
          </a:ln>
        </p:spPr>
      </p:pic>
      <p:sp>
        <p:nvSpPr>
          <p:cNvPr id="1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2192020" y="923925"/>
            <a:ext cx="11704320" cy="200215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3" name="Body Level One…"/>
          <p:cNvSpPr txBox="1"/>
          <p:nvPr>
            <p:ph type="body" idx="1"/>
          </p:nvPr>
        </p:nvSpPr>
        <p:spPr>
          <a:xfrm>
            <a:off x="8166100" y="2926079"/>
            <a:ext cx="5730240" cy="530352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0211466" y="7493000"/>
            <a:ext cx="273655" cy="269239"/>
          </a:xfrm>
          <a:prstGeom prst="rect">
            <a:avLst/>
          </a:prstGeom>
          <a:ln w="12700">
            <a:miter lim="400000"/>
          </a:ln>
        </p:spPr>
        <p:txBody>
          <a:bodyPr wrap="none" lIns="45718" tIns="45718" rIns="45718" bIns="45718"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4.png"/><Relationship Id="rId3" Type="http://schemas.openxmlformats.org/officeDocument/2006/relationships/image" Target="../media/image15.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6.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7.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8.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9.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0" name="Image 0" descr="Image 0"/>
          <p:cNvPicPr>
            <a:picLocks noChangeAspect="1"/>
          </p:cNvPicPr>
          <p:nvPr/>
        </p:nvPicPr>
        <p:blipFill>
          <a:blip r:embed="rId2">
            <a:extLst/>
          </a:blip>
          <a:stretch>
            <a:fillRect/>
          </a:stretch>
        </p:blipFill>
        <p:spPr>
          <a:xfrm>
            <a:off x="0" y="0"/>
            <a:ext cx="5486400" cy="8229600"/>
          </a:xfrm>
          <a:prstGeom prst="rect">
            <a:avLst/>
          </a:prstGeom>
          <a:ln w="12700">
            <a:miter lim="400000"/>
          </a:ln>
        </p:spPr>
      </p:pic>
      <p:sp>
        <p:nvSpPr>
          <p:cNvPr id="151" name="Text 0"/>
          <p:cNvSpPr txBox="1"/>
          <p:nvPr/>
        </p:nvSpPr>
        <p:spPr>
          <a:xfrm>
            <a:off x="6271496" y="653771"/>
            <a:ext cx="7573807" cy="159282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4200"/>
              </a:lnSpc>
              <a:defRPr sz="3400">
                <a:solidFill>
                  <a:srgbClr val="C6BFEE"/>
                </a:solidFill>
                <a:latin typeface="Prompt Medium"/>
                <a:ea typeface="Prompt Medium"/>
                <a:cs typeface="Prompt Medium"/>
                <a:sym typeface="Prompt Medium"/>
              </a:defRPr>
            </a:lvl1pPr>
          </a:lstStyle>
          <a:p>
            <a:pPr/>
            <a:r>
              <a:t>Prediction Model for Adverse Drug Reactions Using Deep Learning Methods</a:t>
            </a:r>
          </a:p>
        </p:txBody>
      </p:sp>
      <p:sp>
        <p:nvSpPr>
          <p:cNvPr id="152" name="Text 1"/>
          <p:cNvSpPr txBox="1"/>
          <p:nvPr/>
        </p:nvSpPr>
        <p:spPr>
          <a:xfrm>
            <a:off x="6271496" y="2551986"/>
            <a:ext cx="7573807" cy="6271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300"/>
              </a:lnSpc>
              <a:defRPr sz="1500">
                <a:solidFill>
                  <a:srgbClr val="DAD8E9"/>
                </a:solidFill>
                <a:latin typeface="Mukta Light"/>
                <a:ea typeface="Mukta Light"/>
                <a:cs typeface="Mukta Light"/>
                <a:sym typeface="Mukta Light"/>
              </a:defRPr>
            </a:lvl1pPr>
          </a:lstStyle>
          <a:p>
            <a:pPr/>
            <a:r>
              <a:t>Binary ADR classification on MIMIC-IV using MLP, ResNet, Attention &amp; EmbeddingMLP, with a real-time Streamlit clinical dashboard.</a:t>
            </a:r>
          </a:p>
        </p:txBody>
      </p:sp>
      <p:sp>
        <p:nvSpPr>
          <p:cNvPr id="153" name="Shape 2"/>
          <p:cNvSpPr/>
          <p:nvPr/>
        </p:nvSpPr>
        <p:spPr>
          <a:xfrm>
            <a:off x="6271497" y="3342561"/>
            <a:ext cx="7573806" cy="680325"/>
          </a:xfrm>
          <a:prstGeom prst="roundRect">
            <a:avLst>
              <a:gd name="adj" fmla="val 50000"/>
            </a:avLst>
          </a:prstGeom>
          <a:solidFill>
            <a:srgbClr val="542C49"/>
          </a:solidFill>
          <a:ln w="7620">
            <a:solidFill>
              <a:srgbClr val="6D4562"/>
            </a:solidFill>
          </a:ln>
        </p:spPr>
        <p:txBody>
          <a:bodyPr lIns="45718" tIns="45718" rIns="45718" bIns="45718"/>
          <a:lstStyle/>
          <a:p>
            <a:pPr>
              <a:defRPr>
                <a:latin typeface="+mj-lt"/>
                <a:ea typeface="+mj-ea"/>
                <a:cs typeface="+mj-cs"/>
                <a:sym typeface="Calibri"/>
              </a:defRPr>
            </a:pPr>
          </a:p>
        </p:txBody>
      </p:sp>
      <p:sp>
        <p:nvSpPr>
          <p:cNvPr id="154" name="Text 3"/>
          <p:cNvSpPr txBox="1"/>
          <p:nvPr/>
        </p:nvSpPr>
        <p:spPr>
          <a:xfrm>
            <a:off x="6475333" y="3546395"/>
            <a:ext cx="1799779" cy="26301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700">
                <a:solidFill>
                  <a:srgbClr val="DAD8E9"/>
                </a:solidFill>
                <a:latin typeface="Prompt Medium"/>
                <a:ea typeface="Prompt Medium"/>
                <a:cs typeface="Prompt Medium"/>
                <a:sym typeface="Prompt Medium"/>
              </a:defRPr>
            </a:lvl1pPr>
          </a:lstStyle>
          <a:p>
            <a:pPr/>
            <a:r>
              <a:t>MIMIC-IV · BIDMC</a:t>
            </a:r>
          </a:p>
        </p:txBody>
      </p:sp>
      <p:sp>
        <p:nvSpPr>
          <p:cNvPr id="155" name="Shape 4"/>
          <p:cNvSpPr/>
          <p:nvPr/>
        </p:nvSpPr>
        <p:spPr>
          <a:xfrm>
            <a:off x="6271497" y="4197787"/>
            <a:ext cx="7573806" cy="680325"/>
          </a:xfrm>
          <a:prstGeom prst="roundRect">
            <a:avLst>
              <a:gd name="adj" fmla="val 50000"/>
            </a:avLst>
          </a:prstGeom>
          <a:solidFill>
            <a:srgbClr val="542C49"/>
          </a:solidFill>
          <a:ln w="7620">
            <a:solidFill>
              <a:srgbClr val="6D4562"/>
            </a:solidFill>
          </a:ln>
        </p:spPr>
        <p:txBody>
          <a:bodyPr lIns="45718" tIns="45718" rIns="45718" bIns="45718"/>
          <a:lstStyle/>
          <a:p>
            <a:pPr>
              <a:defRPr>
                <a:latin typeface="+mj-lt"/>
                <a:ea typeface="+mj-ea"/>
                <a:cs typeface="+mj-cs"/>
                <a:sym typeface="Calibri"/>
              </a:defRPr>
            </a:pPr>
          </a:p>
        </p:txBody>
      </p:sp>
      <p:sp>
        <p:nvSpPr>
          <p:cNvPr id="156" name="Text 5"/>
          <p:cNvSpPr txBox="1"/>
          <p:nvPr/>
        </p:nvSpPr>
        <p:spPr>
          <a:xfrm>
            <a:off x="6475333" y="4401622"/>
            <a:ext cx="2269003" cy="26301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700">
                <a:solidFill>
                  <a:srgbClr val="DAD8E9"/>
                </a:solidFill>
                <a:latin typeface="Prompt Medium"/>
                <a:ea typeface="Prompt Medium"/>
                <a:cs typeface="Prompt Medium"/>
                <a:sym typeface="Prompt Medium"/>
              </a:defRPr>
            </a:lvl1pPr>
          </a:lstStyle>
          <a:p>
            <a:pPr/>
            <a:r>
              <a:t>PyTorch Deep Learning</a:t>
            </a:r>
          </a:p>
        </p:txBody>
      </p:sp>
      <p:sp>
        <p:nvSpPr>
          <p:cNvPr id="157" name="Shape 6"/>
          <p:cNvSpPr/>
          <p:nvPr/>
        </p:nvSpPr>
        <p:spPr>
          <a:xfrm>
            <a:off x="6271497" y="5053012"/>
            <a:ext cx="7573806" cy="680325"/>
          </a:xfrm>
          <a:prstGeom prst="roundRect">
            <a:avLst>
              <a:gd name="adj" fmla="val 50000"/>
            </a:avLst>
          </a:prstGeom>
          <a:solidFill>
            <a:srgbClr val="542C49"/>
          </a:solidFill>
          <a:ln w="7620">
            <a:solidFill>
              <a:srgbClr val="6D4562"/>
            </a:solidFill>
          </a:ln>
        </p:spPr>
        <p:txBody>
          <a:bodyPr lIns="45718" tIns="45718" rIns="45718" bIns="45718"/>
          <a:lstStyle/>
          <a:p>
            <a:pPr>
              <a:defRPr>
                <a:latin typeface="+mj-lt"/>
                <a:ea typeface="+mj-ea"/>
                <a:cs typeface="+mj-cs"/>
                <a:sym typeface="Calibri"/>
              </a:defRPr>
            </a:pPr>
          </a:p>
        </p:txBody>
      </p:sp>
      <p:sp>
        <p:nvSpPr>
          <p:cNvPr id="158" name="Text 7"/>
          <p:cNvSpPr txBox="1"/>
          <p:nvPr/>
        </p:nvSpPr>
        <p:spPr>
          <a:xfrm>
            <a:off x="6475333" y="5256848"/>
            <a:ext cx="3049216" cy="26301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700">
                <a:solidFill>
                  <a:srgbClr val="DAD8E9"/>
                </a:solidFill>
                <a:latin typeface="Prompt Medium"/>
                <a:ea typeface="Prompt Medium"/>
                <a:cs typeface="Prompt Medium"/>
                <a:sym typeface="Prompt Medium"/>
              </a:defRPr>
            </a:lvl1pPr>
          </a:lstStyle>
          <a:p>
            <a:pPr/>
            <a:r>
              <a:t>Optuna Hyperparameter Tuning</a:t>
            </a:r>
          </a:p>
        </p:txBody>
      </p:sp>
      <p:sp>
        <p:nvSpPr>
          <p:cNvPr id="159" name="Shape 8"/>
          <p:cNvSpPr/>
          <p:nvPr/>
        </p:nvSpPr>
        <p:spPr>
          <a:xfrm>
            <a:off x="6271497" y="5908237"/>
            <a:ext cx="7573806" cy="680325"/>
          </a:xfrm>
          <a:prstGeom prst="roundRect">
            <a:avLst>
              <a:gd name="adj" fmla="val 50000"/>
            </a:avLst>
          </a:prstGeom>
          <a:solidFill>
            <a:srgbClr val="542C49"/>
          </a:solidFill>
          <a:ln w="7620">
            <a:solidFill>
              <a:srgbClr val="6D4562"/>
            </a:solidFill>
          </a:ln>
        </p:spPr>
        <p:txBody>
          <a:bodyPr lIns="45718" tIns="45718" rIns="45718" bIns="45718"/>
          <a:lstStyle/>
          <a:p>
            <a:pPr>
              <a:defRPr>
                <a:latin typeface="+mj-lt"/>
                <a:ea typeface="+mj-ea"/>
                <a:cs typeface="+mj-cs"/>
                <a:sym typeface="Calibri"/>
              </a:defRPr>
            </a:pPr>
          </a:p>
        </p:txBody>
      </p:sp>
      <p:sp>
        <p:nvSpPr>
          <p:cNvPr id="160" name="Text 9"/>
          <p:cNvSpPr txBox="1"/>
          <p:nvPr/>
        </p:nvSpPr>
        <p:spPr>
          <a:xfrm>
            <a:off x="6475333" y="6112073"/>
            <a:ext cx="1980680" cy="26301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700">
                <a:solidFill>
                  <a:srgbClr val="DAD8E9"/>
                </a:solidFill>
                <a:latin typeface="Prompt Medium"/>
                <a:ea typeface="Prompt Medium"/>
                <a:cs typeface="Prompt Medium"/>
                <a:sym typeface="Prompt Medium"/>
              </a:defRPr>
            </a:lvl1pPr>
          </a:lstStyle>
          <a:p>
            <a:pPr/>
            <a:r>
              <a:t>Streamlit Dashboard</a:t>
            </a:r>
          </a:p>
        </p:txBody>
      </p:sp>
      <p:sp>
        <p:nvSpPr>
          <p:cNvPr id="161" name="Text 10"/>
          <p:cNvSpPr txBox="1"/>
          <p:nvPr/>
        </p:nvSpPr>
        <p:spPr>
          <a:xfrm>
            <a:off x="6271496" y="6785253"/>
            <a:ext cx="3534665" cy="33502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300"/>
              </a:lnSpc>
              <a:defRPr sz="1500">
                <a:solidFill>
                  <a:srgbClr val="DAD8E9"/>
                </a:solidFill>
                <a:latin typeface="Mukta Light"/>
                <a:ea typeface="Mukta Light"/>
                <a:cs typeface="Mukta Light"/>
                <a:sym typeface="Mukta Light"/>
              </a:defRPr>
            </a:lvl1pPr>
          </a:lstStyle>
          <a:p>
            <a:pPr/>
            <a:r>
              <a:t>DS5500 Data Science Capstone · Spring 2026 </a:t>
            </a:r>
          </a:p>
        </p:txBody>
      </p:sp>
      <p:sp>
        <p:nvSpPr>
          <p:cNvPr id="162" name="Text 11"/>
          <p:cNvSpPr txBox="1"/>
          <p:nvPr/>
        </p:nvSpPr>
        <p:spPr>
          <a:xfrm>
            <a:off x="6271496" y="7278885"/>
            <a:ext cx="5241736" cy="33502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300"/>
              </a:lnSpc>
              <a:defRPr sz="1500">
                <a:solidFill>
                  <a:srgbClr val="DAD8E9"/>
                </a:solidFill>
                <a:latin typeface="Mukta Light"/>
                <a:ea typeface="Mukta Light"/>
                <a:cs typeface="Mukta Light"/>
                <a:sym typeface="Mukta Light"/>
              </a:defRPr>
            </a:lvl1pPr>
          </a:lstStyle>
          <a:p>
            <a:pPr/>
            <a:r>
              <a:t> Elizabeth Coquillette · Hithaishi Raghavendra Reddy · Ishan Chotalia</a:t>
            </a:r>
          </a:p>
        </p:txBody>
      </p:sp>
      <p:sp>
        <p:nvSpPr>
          <p:cNvPr id="163" name="Rectangle"/>
          <p:cNvSpPr/>
          <p:nvPr/>
        </p:nvSpPr>
        <p:spPr>
          <a:xfrm>
            <a:off x="11911489" y="7611588"/>
            <a:ext cx="2653543" cy="675245"/>
          </a:xfrm>
          <a:prstGeom prst="rect">
            <a:avLst/>
          </a:prstGeom>
          <a:solidFill>
            <a:srgbClr val="0D0920"/>
          </a:solidFill>
          <a:ln w="12700">
            <a:miter lim="400000"/>
          </a:ln>
        </p:spPr>
        <p:txBody>
          <a:bodyPr lIns="45718" tIns="45718" rIns="45718" bIns="45718" anchor="ctr"/>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5" name="Image 0" descr="Image 0"/>
          <p:cNvPicPr>
            <a:picLocks noChangeAspect="1"/>
          </p:cNvPicPr>
          <p:nvPr/>
        </p:nvPicPr>
        <p:blipFill>
          <a:blip r:embed="rId2">
            <a:extLst/>
          </a:blip>
          <a:stretch>
            <a:fillRect/>
          </a:stretch>
        </p:blipFill>
        <p:spPr>
          <a:xfrm>
            <a:off x="0" y="0"/>
            <a:ext cx="5486400" cy="8229600"/>
          </a:xfrm>
          <a:prstGeom prst="rect">
            <a:avLst/>
          </a:prstGeom>
          <a:ln w="12700">
            <a:miter lim="400000"/>
          </a:ln>
        </p:spPr>
      </p:pic>
      <p:sp>
        <p:nvSpPr>
          <p:cNvPr id="166" name="Text 0"/>
          <p:cNvSpPr txBox="1"/>
          <p:nvPr/>
        </p:nvSpPr>
        <p:spPr>
          <a:xfrm>
            <a:off x="6367462" y="1557455"/>
            <a:ext cx="7381877" cy="120827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4800"/>
              </a:lnSpc>
              <a:defRPr sz="3800">
                <a:solidFill>
                  <a:srgbClr val="C6BFEE"/>
                </a:solidFill>
                <a:latin typeface="Prompt Medium"/>
                <a:ea typeface="Prompt Medium"/>
                <a:cs typeface="Prompt Medium"/>
                <a:sym typeface="Prompt Medium"/>
              </a:defRPr>
            </a:lvl1pPr>
          </a:lstStyle>
          <a:p>
            <a:pPr/>
            <a:r>
              <a:t>Why Does ADR Prediction Matter?</a:t>
            </a:r>
          </a:p>
        </p:txBody>
      </p:sp>
      <p:sp>
        <p:nvSpPr>
          <p:cNvPr id="167" name="Text 1"/>
          <p:cNvSpPr txBox="1"/>
          <p:nvPr/>
        </p:nvSpPr>
        <p:spPr>
          <a:xfrm>
            <a:off x="6367462" y="3111817"/>
            <a:ext cx="7381877" cy="14178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700"/>
              </a:lnSpc>
              <a:defRPr sz="1700">
                <a:solidFill>
                  <a:srgbClr val="DAD8E9"/>
                </a:solidFill>
                <a:latin typeface="Mukta Light"/>
                <a:ea typeface="Mukta Light"/>
                <a:cs typeface="Mukta Light"/>
                <a:sym typeface="Mukta Light"/>
              </a:defRPr>
            </a:lvl1pPr>
          </a:lstStyle>
          <a:p>
            <a:pPr/>
            <a:r>
              <a:t>Adverse drug reactions are preventable, but only if we see them coming. Late detection is the core problem: clinical trials miss rare ADR events, and post-market surveillance is slow. By the time a clinician recognizes an ADR, harm has already occurred.</a:t>
            </a:r>
          </a:p>
        </p:txBody>
      </p:sp>
      <p:sp>
        <p:nvSpPr>
          <p:cNvPr id="168" name="Text 2"/>
          <p:cNvSpPr txBox="1"/>
          <p:nvPr/>
        </p:nvSpPr>
        <p:spPr>
          <a:xfrm>
            <a:off x="7403258" y="4879418"/>
            <a:ext cx="1481709" cy="7456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5700"/>
              </a:lnSpc>
              <a:defRPr sz="5700">
                <a:solidFill>
                  <a:srgbClr val="DAD8E9"/>
                </a:solidFill>
                <a:latin typeface="Prompt Medium"/>
                <a:ea typeface="Prompt Medium"/>
                <a:cs typeface="Prompt Medium"/>
                <a:sym typeface="Prompt Medium"/>
              </a:defRPr>
            </a:lvl1pPr>
          </a:lstStyle>
          <a:p>
            <a:pPr/>
            <a:r>
              <a:t>~7%</a:t>
            </a:r>
          </a:p>
        </p:txBody>
      </p:sp>
      <p:sp>
        <p:nvSpPr>
          <p:cNvPr id="169" name="Text 3"/>
          <p:cNvSpPr txBox="1"/>
          <p:nvPr/>
        </p:nvSpPr>
        <p:spPr>
          <a:xfrm>
            <a:off x="7058098" y="5881568"/>
            <a:ext cx="2172030" cy="29933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400"/>
              </a:lnSpc>
              <a:defRPr sz="1900">
                <a:solidFill>
                  <a:srgbClr val="DAD8E9"/>
                </a:solidFill>
                <a:latin typeface="Prompt Medium"/>
                <a:ea typeface="Prompt Medium"/>
                <a:cs typeface="Prompt Medium"/>
                <a:sym typeface="Prompt Medium"/>
              </a:defRPr>
            </a:lvl1pPr>
          </a:lstStyle>
          <a:p>
            <a:pPr/>
            <a:r>
              <a:t>Hospital Admissions</a:t>
            </a:r>
          </a:p>
        </p:txBody>
      </p:sp>
      <p:sp>
        <p:nvSpPr>
          <p:cNvPr id="170" name="Text 4"/>
          <p:cNvSpPr txBox="1"/>
          <p:nvPr/>
        </p:nvSpPr>
        <p:spPr>
          <a:xfrm>
            <a:off x="7086544" y="6319718"/>
            <a:ext cx="2115136" cy="38917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700"/>
              </a:lnSpc>
              <a:defRPr sz="1700">
                <a:solidFill>
                  <a:srgbClr val="DAD8E9"/>
                </a:solidFill>
                <a:latin typeface="Mukta Light"/>
                <a:ea typeface="Mukta Light"/>
                <a:cs typeface="Mukta Light"/>
                <a:sym typeface="Mukta Light"/>
              </a:defRPr>
            </a:lvl1pPr>
          </a:lstStyle>
          <a:p>
            <a:pPr/>
            <a:r>
              <a:t>caused by ADRs globally</a:t>
            </a:r>
          </a:p>
        </p:txBody>
      </p:sp>
      <p:sp>
        <p:nvSpPr>
          <p:cNvPr id="171" name="Text 5"/>
          <p:cNvSpPr txBox="1"/>
          <p:nvPr/>
        </p:nvSpPr>
        <p:spPr>
          <a:xfrm>
            <a:off x="10919721" y="4879418"/>
            <a:ext cx="2105931" cy="74560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5700"/>
              </a:lnSpc>
              <a:defRPr sz="5700">
                <a:solidFill>
                  <a:srgbClr val="DAD8E9"/>
                </a:solidFill>
                <a:latin typeface="Prompt Medium"/>
                <a:ea typeface="Prompt Medium"/>
                <a:cs typeface="Prompt Medium"/>
                <a:sym typeface="Prompt Medium"/>
              </a:defRPr>
            </a:lvl1pPr>
          </a:lstStyle>
          <a:p>
            <a:pPr/>
            <a:r>
              <a:t>$136B</a:t>
            </a:r>
          </a:p>
        </p:txBody>
      </p:sp>
      <p:sp>
        <p:nvSpPr>
          <p:cNvPr id="172" name="Text 6"/>
          <p:cNvSpPr txBox="1"/>
          <p:nvPr/>
        </p:nvSpPr>
        <p:spPr>
          <a:xfrm>
            <a:off x="11107942" y="5881568"/>
            <a:ext cx="1729489" cy="29933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400"/>
              </a:lnSpc>
              <a:defRPr sz="1900">
                <a:solidFill>
                  <a:srgbClr val="DAD8E9"/>
                </a:solidFill>
                <a:latin typeface="Prompt Medium"/>
                <a:ea typeface="Prompt Medium"/>
                <a:cs typeface="Prompt Medium"/>
                <a:sym typeface="Prompt Medium"/>
              </a:defRPr>
            </a:lvl1pPr>
          </a:lstStyle>
          <a:p>
            <a:pPr/>
            <a:r>
              <a:t>Annual US Cost</a:t>
            </a:r>
          </a:p>
        </p:txBody>
      </p:sp>
      <p:sp>
        <p:nvSpPr>
          <p:cNvPr id="173" name="Text 7"/>
          <p:cNvSpPr txBox="1"/>
          <p:nvPr/>
        </p:nvSpPr>
        <p:spPr>
          <a:xfrm>
            <a:off x="10939191" y="6319718"/>
            <a:ext cx="2066990" cy="38917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700"/>
              </a:lnSpc>
              <a:defRPr sz="1700">
                <a:solidFill>
                  <a:srgbClr val="DAD8E9"/>
                </a:solidFill>
                <a:latin typeface="Mukta Light"/>
                <a:ea typeface="Mukta Light"/>
                <a:cs typeface="Mukta Light"/>
                <a:sym typeface="Mukta Light"/>
              </a:defRPr>
            </a:lvl1pPr>
          </a:lstStyle>
          <a:p>
            <a:pPr/>
            <a:r>
              <a:t>from ADR-related harm</a:t>
            </a:r>
          </a:p>
        </p:txBody>
      </p:sp>
      <p:sp>
        <p:nvSpPr>
          <p:cNvPr id="174" name="Rectangle"/>
          <p:cNvSpPr/>
          <p:nvPr/>
        </p:nvSpPr>
        <p:spPr>
          <a:xfrm>
            <a:off x="11911489" y="7611588"/>
            <a:ext cx="2653543" cy="675245"/>
          </a:xfrm>
          <a:prstGeom prst="rect">
            <a:avLst/>
          </a:prstGeom>
          <a:solidFill>
            <a:srgbClr val="0D0920"/>
          </a:solidFill>
          <a:ln w="12700">
            <a:miter lim="400000"/>
          </a:ln>
        </p:spPr>
        <p:txBody>
          <a:bodyPr lIns="45718" tIns="45718" rIns="45718" bIns="45718" anchor="ctr"/>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Text 0"/>
          <p:cNvSpPr txBox="1"/>
          <p:nvPr/>
        </p:nvSpPr>
        <p:spPr>
          <a:xfrm>
            <a:off x="785812" y="683300"/>
            <a:ext cx="5268305" cy="52602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200"/>
              </a:lnSpc>
              <a:defRPr sz="3400">
                <a:solidFill>
                  <a:srgbClr val="C6BFEE"/>
                </a:solidFill>
                <a:latin typeface="Prompt Medium"/>
                <a:ea typeface="Prompt Medium"/>
                <a:cs typeface="Prompt Medium"/>
                <a:sym typeface="Prompt Medium"/>
              </a:defRPr>
            </a:lvl1pPr>
          </a:lstStyle>
          <a:p>
            <a:pPr/>
            <a:r>
              <a:t>Data Foundation: MIMIC-IV</a:t>
            </a:r>
          </a:p>
        </p:txBody>
      </p:sp>
      <p:sp>
        <p:nvSpPr>
          <p:cNvPr id="177" name="Text 1"/>
          <p:cNvSpPr txBox="1"/>
          <p:nvPr/>
        </p:nvSpPr>
        <p:spPr>
          <a:xfrm>
            <a:off x="785812" y="1579362"/>
            <a:ext cx="13058777" cy="62712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300"/>
              </a:lnSpc>
              <a:defRPr sz="1500">
                <a:solidFill>
                  <a:srgbClr val="DAD8E9"/>
                </a:solidFill>
                <a:latin typeface="Mukta Light"/>
                <a:ea typeface="Mukta Light"/>
                <a:cs typeface="Mukta Light"/>
                <a:sym typeface="Mukta Light"/>
              </a:defRPr>
            </a:lvl1pPr>
          </a:lstStyle>
          <a:p>
            <a:pPr/>
            <a:r>
              <a:t>De-identified EHR data from Beth Israel Deaconess Medical Center, Boston. We built four dataset variants to study the effect of features systematically, with stratified 64/16/20% train/val/test splits and StandardScaler on 8 numerical columns.</a:t>
            </a:r>
          </a:p>
        </p:txBody>
      </p:sp>
      <p:sp>
        <p:nvSpPr>
          <p:cNvPr id="178" name="Shape 2"/>
          <p:cNvSpPr/>
          <p:nvPr/>
        </p:nvSpPr>
        <p:spPr>
          <a:xfrm>
            <a:off x="644364" y="2371011"/>
            <a:ext cx="6572610" cy="5175292"/>
          </a:xfrm>
          <a:prstGeom prst="roundRect">
            <a:avLst>
              <a:gd name="adj" fmla="val 2733"/>
            </a:avLst>
          </a:prstGeom>
          <a:solidFill>
            <a:srgbClr val="FDC4C4">
              <a:alpha val="95000"/>
            </a:srgbClr>
          </a:solidFill>
          <a:ln w="12700">
            <a:miter lim="400000"/>
          </a:ln>
        </p:spPr>
        <p:txBody>
          <a:bodyPr lIns="45718" tIns="45718" rIns="45718" bIns="45718"/>
          <a:lstStyle/>
          <a:p>
            <a:pPr>
              <a:defRPr>
                <a:latin typeface="+mj-lt"/>
                <a:ea typeface="+mj-ea"/>
                <a:cs typeface="+mj-cs"/>
                <a:sym typeface="Calibri"/>
              </a:defRPr>
            </a:pPr>
          </a:p>
        </p:txBody>
      </p:sp>
      <p:sp>
        <p:nvSpPr>
          <p:cNvPr id="179" name="Text 3"/>
          <p:cNvSpPr txBox="1"/>
          <p:nvPr/>
        </p:nvSpPr>
        <p:spPr>
          <a:xfrm>
            <a:off x="840819" y="2546150"/>
            <a:ext cx="1356805" cy="26301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700">
                <a:latin typeface="Prompt Medium"/>
                <a:ea typeface="Prompt Medium"/>
                <a:cs typeface="Prompt Medium"/>
                <a:sym typeface="Prompt Medium"/>
              </a:defRPr>
            </a:lvl1pPr>
          </a:lstStyle>
          <a:p>
            <a:pPr/>
            <a:r>
              <a:t>Dataset Scale</a:t>
            </a:r>
          </a:p>
        </p:txBody>
      </p:sp>
      <p:pic>
        <p:nvPicPr>
          <p:cNvPr id="180" name="Image 0" descr="Image 0"/>
          <p:cNvPicPr>
            <a:picLocks noChangeAspect="1"/>
          </p:cNvPicPr>
          <p:nvPr/>
        </p:nvPicPr>
        <p:blipFill>
          <a:blip r:embed="rId2">
            <a:extLst/>
          </a:blip>
          <a:stretch>
            <a:fillRect/>
          </a:stretch>
        </p:blipFill>
        <p:spPr>
          <a:xfrm>
            <a:off x="840819" y="3015970"/>
            <a:ext cx="5376863" cy="1654375"/>
          </a:xfrm>
          <a:prstGeom prst="rect">
            <a:avLst/>
          </a:prstGeom>
          <a:ln w="12700">
            <a:miter lim="400000"/>
          </a:ln>
        </p:spPr>
      </p:pic>
      <p:sp>
        <p:nvSpPr>
          <p:cNvPr id="181" name="Shape 4"/>
          <p:cNvSpPr/>
          <p:nvPr/>
        </p:nvSpPr>
        <p:spPr>
          <a:xfrm>
            <a:off x="840819" y="4867392"/>
            <a:ext cx="3002280" cy="1153360"/>
          </a:xfrm>
          <a:prstGeom prst="roundRect">
            <a:avLst>
              <a:gd name="adj" fmla="val 7154"/>
            </a:avLst>
          </a:prstGeom>
          <a:solidFill>
            <a:srgbClr val="542C49"/>
          </a:solidFill>
          <a:ln w="7620">
            <a:solidFill>
              <a:srgbClr val="6D4562"/>
            </a:solidFill>
          </a:ln>
        </p:spPr>
        <p:txBody>
          <a:bodyPr lIns="45718" tIns="45718" rIns="45718" bIns="45718"/>
          <a:lstStyle/>
          <a:p>
            <a:pPr>
              <a:defRPr>
                <a:latin typeface="+mj-lt"/>
                <a:ea typeface="+mj-ea"/>
                <a:cs typeface="+mj-cs"/>
                <a:sym typeface="Calibri"/>
              </a:defRPr>
            </a:pPr>
          </a:p>
        </p:txBody>
      </p:sp>
      <p:sp>
        <p:nvSpPr>
          <p:cNvPr id="182" name="Text 5"/>
          <p:cNvSpPr txBox="1"/>
          <p:nvPr/>
        </p:nvSpPr>
        <p:spPr>
          <a:xfrm>
            <a:off x="1044892" y="5071467"/>
            <a:ext cx="522933" cy="26301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700">
                <a:solidFill>
                  <a:srgbClr val="FFFFFF"/>
                </a:solidFill>
                <a:latin typeface="Prompt Medium"/>
                <a:ea typeface="Prompt Medium"/>
                <a:cs typeface="Prompt Medium"/>
                <a:sym typeface="Prompt Medium"/>
              </a:defRPr>
            </a:lvl1pPr>
          </a:lstStyle>
          <a:p>
            <a:pPr/>
            <a:r>
              <a:t>50K+</a:t>
            </a:r>
          </a:p>
        </p:txBody>
      </p:sp>
      <p:sp>
        <p:nvSpPr>
          <p:cNvPr id="183" name="Text 6"/>
          <p:cNvSpPr txBox="1"/>
          <p:nvPr/>
        </p:nvSpPr>
        <p:spPr>
          <a:xfrm>
            <a:off x="1044892" y="5519380"/>
            <a:ext cx="653733" cy="33502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300"/>
              </a:lnSpc>
              <a:defRPr sz="1500">
                <a:solidFill>
                  <a:srgbClr val="FFFFFF"/>
                </a:solidFill>
                <a:latin typeface="Mukta Light"/>
                <a:ea typeface="Mukta Light"/>
                <a:cs typeface="Mukta Light"/>
                <a:sym typeface="Mukta Light"/>
              </a:defRPr>
            </a:lvl1pPr>
          </a:lstStyle>
          <a:p>
            <a:pPr/>
            <a:r>
              <a:t>Patients</a:t>
            </a:r>
          </a:p>
        </p:txBody>
      </p:sp>
      <p:sp>
        <p:nvSpPr>
          <p:cNvPr id="184" name="Shape 7"/>
          <p:cNvSpPr/>
          <p:nvPr/>
        </p:nvSpPr>
        <p:spPr>
          <a:xfrm>
            <a:off x="4018240" y="4867392"/>
            <a:ext cx="3002280" cy="1153360"/>
          </a:xfrm>
          <a:prstGeom prst="roundRect">
            <a:avLst>
              <a:gd name="adj" fmla="val 7154"/>
            </a:avLst>
          </a:prstGeom>
          <a:solidFill>
            <a:srgbClr val="542C49"/>
          </a:solidFill>
          <a:ln w="7620">
            <a:solidFill>
              <a:srgbClr val="6D4562"/>
            </a:solidFill>
          </a:ln>
        </p:spPr>
        <p:txBody>
          <a:bodyPr lIns="45718" tIns="45718" rIns="45718" bIns="45718"/>
          <a:lstStyle/>
          <a:p>
            <a:pPr>
              <a:defRPr>
                <a:latin typeface="+mj-lt"/>
                <a:ea typeface="+mj-ea"/>
                <a:cs typeface="+mj-cs"/>
                <a:sym typeface="Calibri"/>
              </a:defRPr>
            </a:pPr>
          </a:p>
        </p:txBody>
      </p:sp>
      <p:sp>
        <p:nvSpPr>
          <p:cNvPr id="185" name="Text 8"/>
          <p:cNvSpPr txBox="1"/>
          <p:nvPr/>
        </p:nvSpPr>
        <p:spPr>
          <a:xfrm>
            <a:off x="4222312" y="5071467"/>
            <a:ext cx="522933" cy="26301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700">
                <a:solidFill>
                  <a:srgbClr val="FFFFFF"/>
                </a:solidFill>
                <a:latin typeface="Prompt Medium"/>
                <a:ea typeface="Prompt Medium"/>
                <a:cs typeface="Prompt Medium"/>
                <a:sym typeface="Prompt Medium"/>
              </a:defRPr>
            </a:lvl1pPr>
          </a:lstStyle>
          <a:p>
            <a:pPr/>
            <a:r>
              <a:t>76K+</a:t>
            </a:r>
          </a:p>
        </p:txBody>
      </p:sp>
      <p:sp>
        <p:nvSpPr>
          <p:cNvPr id="186" name="Text 9"/>
          <p:cNvSpPr txBox="1"/>
          <p:nvPr/>
        </p:nvSpPr>
        <p:spPr>
          <a:xfrm>
            <a:off x="4222312" y="5519380"/>
            <a:ext cx="1200849" cy="33502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300"/>
              </a:lnSpc>
              <a:defRPr sz="1500">
                <a:solidFill>
                  <a:srgbClr val="FFFFFF"/>
                </a:solidFill>
                <a:latin typeface="Mukta Light"/>
                <a:ea typeface="Mukta Light"/>
                <a:cs typeface="Mukta Light"/>
                <a:sym typeface="Mukta Light"/>
              </a:defRPr>
            </a:lvl1pPr>
          </a:lstStyle>
          <a:p>
            <a:pPr/>
            <a:r>
              <a:t>ICU Admissions</a:t>
            </a:r>
          </a:p>
        </p:txBody>
      </p:sp>
      <p:sp>
        <p:nvSpPr>
          <p:cNvPr id="187" name="Shape 10"/>
          <p:cNvSpPr/>
          <p:nvPr/>
        </p:nvSpPr>
        <p:spPr>
          <a:xfrm>
            <a:off x="840819" y="6195893"/>
            <a:ext cx="3002280" cy="1153360"/>
          </a:xfrm>
          <a:prstGeom prst="roundRect">
            <a:avLst>
              <a:gd name="adj" fmla="val 7154"/>
            </a:avLst>
          </a:prstGeom>
          <a:solidFill>
            <a:srgbClr val="542C49"/>
          </a:solidFill>
          <a:ln w="7620">
            <a:solidFill>
              <a:srgbClr val="6D4562"/>
            </a:solidFill>
          </a:ln>
        </p:spPr>
        <p:txBody>
          <a:bodyPr lIns="45718" tIns="45718" rIns="45718" bIns="45718"/>
          <a:lstStyle/>
          <a:p>
            <a:pPr>
              <a:defRPr>
                <a:latin typeface="+mj-lt"/>
                <a:ea typeface="+mj-ea"/>
                <a:cs typeface="+mj-cs"/>
                <a:sym typeface="Calibri"/>
              </a:defRPr>
            </a:pPr>
          </a:p>
        </p:txBody>
      </p:sp>
      <p:sp>
        <p:nvSpPr>
          <p:cNvPr id="188" name="Text 11"/>
          <p:cNvSpPr txBox="1"/>
          <p:nvPr/>
        </p:nvSpPr>
        <p:spPr>
          <a:xfrm>
            <a:off x="1044892" y="6399967"/>
            <a:ext cx="132774" cy="26301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700">
                <a:solidFill>
                  <a:srgbClr val="FFFFFF"/>
                </a:solidFill>
                <a:latin typeface="Prompt Medium"/>
                <a:ea typeface="Prompt Medium"/>
                <a:cs typeface="Prompt Medium"/>
                <a:sym typeface="Prompt Medium"/>
              </a:defRPr>
            </a:lvl1pPr>
          </a:lstStyle>
          <a:p>
            <a:pPr/>
            <a:r>
              <a:t>4</a:t>
            </a:r>
          </a:p>
        </p:txBody>
      </p:sp>
      <p:sp>
        <p:nvSpPr>
          <p:cNvPr id="189" name="Text 12"/>
          <p:cNvSpPr txBox="1"/>
          <p:nvPr/>
        </p:nvSpPr>
        <p:spPr>
          <a:xfrm>
            <a:off x="1044892" y="6847878"/>
            <a:ext cx="1297433" cy="33502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300"/>
              </a:lnSpc>
              <a:defRPr sz="1500">
                <a:solidFill>
                  <a:srgbClr val="FFFFFF"/>
                </a:solidFill>
                <a:latin typeface="Mukta Light"/>
                <a:ea typeface="Mukta Light"/>
                <a:cs typeface="Mukta Light"/>
                <a:sym typeface="Mukta Light"/>
              </a:defRPr>
            </a:lvl1pPr>
          </a:lstStyle>
          <a:p>
            <a:pPr/>
            <a:r>
              <a:t>Dataset Variants</a:t>
            </a:r>
          </a:p>
        </p:txBody>
      </p:sp>
      <p:sp>
        <p:nvSpPr>
          <p:cNvPr id="190" name="Shape 13"/>
          <p:cNvSpPr/>
          <p:nvPr/>
        </p:nvSpPr>
        <p:spPr>
          <a:xfrm>
            <a:off x="4018240" y="6195893"/>
            <a:ext cx="3002280" cy="1153360"/>
          </a:xfrm>
          <a:prstGeom prst="roundRect">
            <a:avLst>
              <a:gd name="adj" fmla="val 7154"/>
            </a:avLst>
          </a:prstGeom>
          <a:solidFill>
            <a:srgbClr val="542C49"/>
          </a:solidFill>
          <a:ln w="7620">
            <a:solidFill>
              <a:srgbClr val="6D4562"/>
            </a:solidFill>
          </a:ln>
        </p:spPr>
        <p:txBody>
          <a:bodyPr lIns="45718" tIns="45718" rIns="45718" bIns="45718"/>
          <a:lstStyle/>
          <a:p>
            <a:pPr>
              <a:defRPr>
                <a:latin typeface="+mj-lt"/>
                <a:ea typeface="+mj-ea"/>
                <a:cs typeface="+mj-cs"/>
                <a:sym typeface="Calibri"/>
              </a:defRPr>
            </a:pPr>
          </a:p>
        </p:txBody>
      </p:sp>
      <p:sp>
        <p:nvSpPr>
          <p:cNvPr id="191" name="Text 14"/>
          <p:cNvSpPr txBox="1"/>
          <p:nvPr/>
        </p:nvSpPr>
        <p:spPr>
          <a:xfrm>
            <a:off x="4222312" y="6399967"/>
            <a:ext cx="252847" cy="26301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700">
                <a:solidFill>
                  <a:srgbClr val="FFFFFF"/>
                </a:solidFill>
                <a:latin typeface="Prompt Medium"/>
                <a:ea typeface="Prompt Medium"/>
                <a:cs typeface="Prompt Medium"/>
                <a:sym typeface="Prompt Medium"/>
              </a:defRPr>
            </a:lvl1pPr>
          </a:lstStyle>
          <a:p>
            <a:pPr/>
            <a:r>
              <a:t>20</a:t>
            </a:r>
          </a:p>
        </p:txBody>
      </p:sp>
      <p:sp>
        <p:nvSpPr>
          <p:cNvPr id="192" name="Text 15"/>
          <p:cNvSpPr txBox="1"/>
          <p:nvPr/>
        </p:nvSpPr>
        <p:spPr>
          <a:xfrm>
            <a:off x="4222312" y="6847878"/>
            <a:ext cx="1052069" cy="335027"/>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300"/>
              </a:lnSpc>
              <a:defRPr sz="1500">
                <a:solidFill>
                  <a:srgbClr val="FFFFFF"/>
                </a:solidFill>
                <a:latin typeface="Mukta Light"/>
                <a:ea typeface="Mukta Light"/>
                <a:cs typeface="Mukta Light"/>
                <a:sym typeface="Mukta Light"/>
              </a:defRPr>
            </a:lvl1pPr>
          </a:lstStyle>
          <a:p>
            <a:pPr/>
            <a:r>
              <a:t>Max Features</a:t>
            </a:r>
          </a:p>
        </p:txBody>
      </p:sp>
      <p:sp>
        <p:nvSpPr>
          <p:cNvPr id="193" name="Text 16"/>
          <p:cNvSpPr txBox="1"/>
          <p:nvPr/>
        </p:nvSpPr>
        <p:spPr>
          <a:xfrm>
            <a:off x="7562491" y="2546150"/>
            <a:ext cx="1836571" cy="26301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700">
                <a:solidFill>
                  <a:srgbClr val="C6BFEE"/>
                </a:solidFill>
                <a:latin typeface="Prompt Medium"/>
                <a:ea typeface="Prompt Medium"/>
                <a:cs typeface="Prompt Medium"/>
                <a:sym typeface="Prompt Medium"/>
              </a:defRPr>
            </a:lvl1pPr>
          </a:lstStyle>
          <a:p>
            <a:pPr/>
            <a:r>
              <a:t>Core Features (13)</a:t>
            </a:r>
          </a:p>
        </p:txBody>
      </p:sp>
      <p:sp>
        <p:nvSpPr>
          <p:cNvPr id="194" name="Text 17"/>
          <p:cNvSpPr txBox="1"/>
          <p:nvPr/>
        </p:nvSpPr>
        <p:spPr>
          <a:xfrm>
            <a:off x="7562491" y="2994063"/>
            <a:ext cx="6289717" cy="121132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ts val="2300"/>
              </a:lnSpc>
              <a:buSzPct val="100000"/>
              <a:buChar char="•"/>
              <a:defRPr sz="1500">
                <a:solidFill>
                  <a:srgbClr val="DAD8E9"/>
                </a:solidFill>
                <a:latin typeface="Mukta Light"/>
                <a:ea typeface="Mukta Light"/>
                <a:cs typeface="Mukta Light"/>
                <a:sym typeface="Mukta Light"/>
              </a:defRPr>
            </a:pPr>
            <a:r>
              <a:t>Drug, route, dose value &amp; unit</a:t>
            </a:r>
          </a:p>
          <a:p>
            <a:pPr marL="342900" indent="-342900">
              <a:lnSpc>
                <a:spcPts val="2300"/>
              </a:lnSpc>
              <a:buSzPct val="100000"/>
              <a:buChar char="•"/>
              <a:defRPr sz="1500">
                <a:solidFill>
                  <a:srgbClr val="DAD8E9"/>
                </a:solidFill>
                <a:latin typeface="Mukta Light"/>
                <a:ea typeface="Mukta Light"/>
                <a:cs typeface="Mukta Light"/>
                <a:sym typeface="Mukta Light"/>
              </a:defRPr>
            </a:pPr>
            <a:r>
              <a:t>Patient age, sex, age group</a:t>
            </a:r>
          </a:p>
          <a:p>
            <a:pPr marL="342900" indent="-342900">
              <a:lnSpc>
                <a:spcPts val="2300"/>
              </a:lnSpc>
              <a:buSzPct val="100000"/>
              <a:buChar char="•"/>
              <a:defRPr sz="1500">
                <a:solidFill>
                  <a:srgbClr val="DAD8E9"/>
                </a:solidFill>
                <a:latin typeface="Mukta Light"/>
                <a:ea typeface="Mukta Light"/>
                <a:cs typeface="Mukta Light"/>
                <a:sym typeface="Mukta Light"/>
              </a:defRPr>
            </a:pPr>
            <a:r>
              <a:t>Treatment duration (hours), log dose, drug frequency</a:t>
            </a:r>
          </a:p>
          <a:p>
            <a:pPr marL="342900" indent="-342900">
              <a:lnSpc>
                <a:spcPts val="2300"/>
              </a:lnSpc>
              <a:buSzPct val="100000"/>
              <a:buChar char="•"/>
              <a:defRPr sz="1500">
                <a:solidFill>
                  <a:srgbClr val="DAD8E9"/>
                </a:solidFill>
                <a:latin typeface="Mukta Light"/>
                <a:ea typeface="Mukta Light"/>
                <a:cs typeface="Mukta Light"/>
                <a:sym typeface="Mukta Light"/>
              </a:defRPr>
            </a:pPr>
            <a:r>
              <a:t>Patient admission &amp; prescription count</a:t>
            </a:r>
          </a:p>
        </p:txBody>
      </p:sp>
      <p:sp>
        <p:nvSpPr>
          <p:cNvPr id="195" name="Text 18"/>
          <p:cNvSpPr txBox="1"/>
          <p:nvPr/>
        </p:nvSpPr>
        <p:spPr>
          <a:xfrm>
            <a:off x="7562491" y="4542351"/>
            <a:ext cx="2347015" cy="26301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100"/>
              </a:lnSpc>
              <a:defRPr sz="1700">
                <a:solidFill>
                  <a:srgbClr val="C6BFEE"/>
                </a:solidFill>
                <a:latin typeface="Prompt Medium"/>
                <a:ea typeface="Prompt Medium"/>
                <a:cs typeface="Prompt Medium"/>
                <a:sym typeface="Prompt Medium"/>
              </a:defRPr>
            </a:lvl1pPr>
          </a:lstStyle>
          <a:p>
            <a:pPr/>
            <a:r>
              <a:t>Expanded Features (+7)</a:t>
            </a:r>
          </a:p>
        </p:txBody>
      </p:sp>
      <p:sp>
        <p:nvSpPr>
          <p:cNvPr id="196" name="Text 19"/>
          <p:cNvSpPr txBox="1"/>
          <p:nvPr/>
        </p:nvSpPr>
        <p:spPr>
          <a:xfrm>
            <a:off x="7562491" y="4990267"/>
            <a:ext cx="6289717" cy="6271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ts val="2300"/>
              </a:lnSpc>
              <a:buSzPct val="100000"/>
              <a:buChar char="•"/>
              <a:defRPr sz="1500">
                <a:solidFill>
                  <a:srgbClr val="DAD8E9"/>
                </a:solidFill>
                <a:latin typeface="Mukta Light"/>
                <a:ea typeface="Mukta Light"/>
                <a:cs typeface="Mukta Light"/>
                <a:sym typeface="Mukta Light"/>
              </a:defRPr>
            </a:pPr>
            <a:r>
              <a:t>Polypharmacy count, renal &amp; liver disease flags (ICD)</a:t>
            </a:r>
          </a:p>
          <a:p>
            <a:pPr marL="342900" indent="-342900">
              <a:lnSpc>
                <a:spcPts val="2300"/>
              </a:lnSpc>
              <a:buSzPct val="100000"/>
              <a:buChar char="•"/>
              <a:defRPr sz="1500">
                <a:solidFill>
                  <a:srgbClr val="DAD8E9"/>
                </a:solidFill>
                <a:latin typeface="Mukta Light"/>
                <a:ea typeface="Mukta Light"/>
                <a:cs typeface="Mukta Light"/>
                <a:sym typeface="Mukta Light"/>
              </a:defRPr>
            </a:pPr>
            <a:r>
              <a:t>Creatinine, ALT, AST lab values · Admission type</a:t>
            </a:r>
          </a:p>
        </p:txBody>
      </p:sp>
      <p:sp>
        <p:nvSpPr>
          <p:cNvPr id="197" name="Rectangle"/>
          <p:cNvSpPr/>
          <p:nvPr/>
        </p:nvSpPr>
        <p:spPr>
          <a:xfrm>
            <a:off x="11911489" y="7611588"/>
            <a:ext cx="2653543" cy="675245"/>
          </a:xfrm>
          <a:prstGeom prst="rect">
            <a:avLst/>
          </a:prstGeom>
          <a:solidFill>
            <a:srgbClr val="0D0920"/>
          </a:solidFill>
          <a:ln w="12700">
            <a:miter lim="400000"/>
          </a:ln>
        </p:spPr>
        <p:txBody>
          <a:bodyPr lIns="45718" tIns="45718" rIns="45718" bIns="45718" anchor="ctr"/>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9" name="Image 0" descr="Image 0"/>
          <p:cNvPicPr>
            <a:picLocks noChangeAspect="1"/>
          </p:cNvPicPr>
          <p:nvPr/>
        </p:nvPicPr>
        <p:blipFill>
          <a:blip r:embed="rId2">
            <a:extLst/>
          </a:blip>
          <a:stretch>
            <a:fillRect/>
          </a:stretch>
        </p:blipFill>
        <p:spPr>
          <a:xfrm>
            <a:off x="7590473" y="1004054"/>
            <a:ext cx="6764537" cy="6221373"/>
          </a:xfrm>
          <a:prstGeom prst="rect">
            <a:avLst/>
          </a:prstGeom>
          <a:ln w="12700">
            <a:miter lim="400000"/>
          </a:ln>
        </p:spPr>
      </p:pic>
      <p:sp>
        <p:nvSpPr>
          <p:cNvPr id="200" name="Text 0"/>
          <p:cNvSpPr txBox="1"/>
          <p:nvPr/>
        </p:nvSpPr>
        <p:spPr>
          <a:xfrm>
            <a:off x="881061" y="1917857"/>
            <a:ext cx="4304260" cy="5986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800">
                <a:solidFill>
                  <a:srgbClr val="C6BFEE"/>
                </a:solidFill>
                <a:latin typeface="Prompt Medium"/>
                <a:ea typeface="Prompt Medium"/>
                <a:cs typeface="Prompt Medium"/>
                <a:sym typeface="Prompt Medium"/>
              </a:defRPr>
            </a:lvl1pPr>
          </a:lstStyle>
          <a:p>
            <a:pPr/>
            <a:r>
              <a:t>System Architecture</a:t>
            </a:r>
          </a:p>
        </p:txBody>
      </p:sp>
      <p:sp>
        <p:nvSpPr>
          <p:cNvPr id="201" name="Text 1"/>
          <p:cNvSpPr txBox="1"/>
          <p:nvPr/>
        </p:nvSpPr>
        <p:spPr>
          <a:xfrm>
            <a:off x="881061" y="2860238"/>
            <a:ext cx="5553078" cy="7320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700"/>
              </a:lnSpc>
              <a:defRPr sz="1700">
                <a:solidFill>
                  <a:srgbClr val="DAD8E9"/>
                </a:solidFill>
                <a:latin typeface="Mukta Light"/>
                <a:ea typeface="Mukta Light"/>
                <a:cs typeface="Mukta Light"/>
                <a:sym typeface="Mukta Light"/>
              </a:defRPr>
            </a:lvl1pPr>
          </a:lstStyle>
          <a:p>
            <a:pPr/>
            <a:r>
              <a:t>End-to-end flow from raw MIMIC-IV data to deployed clinical dashboard.</a:t>
            </a:r>
          </a:p>
        </p:txBody>
      </p:sp>
      <p:pic>
        <p:nvPicPr>
          <p:cNvPr id="202" name="Image 1" descr="Image 1"/>
          <p:cNvPicPr>
            <a:picLocks noChangeAspect="1"/>
          </p:cNvPicPr>
          <p:nvPr/>
        </p:nvPicPr>
        <p:blipFill>
          <a:blip r:embed="rId3">
            <a:extLst/>
          </a:blip>
          <a:stretch>
            <a:fillRect/>
          </a:stretch>
        </p:blipFill>
        <p:spPr>
          <a:xfrm>
            <a:off x="881062" y="3812857"/>
            <a:ext cx="5553077" cy="2498886"/>
          </a:xfrm>
          <a:prstGeom prst="rect">
            <a:avLst/>
          </a:prstGeom>
          <a:ln w="12700">
            <a:miter lim="400000"/>
          </a:ln>
        </p:spPr>
      </p:pic>
      <p:sp>
        <p:nvSpPr>
          <p:cNvPr id="203" name="Text 2"/>
          <p:cNvSpPr txBox="1"/>
          <p:nvPr/>
        </p:nvSpPr>
        <p:spPr>
          <a:xfrm>
            <a:off x="1990894" y="3985054"/>
            <a:ext cx="425055"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000"/>
              </a:lnSpc>
              <a:defRPr sz="800">
                <a:solidFill>
                  <a:srgbClr val="DAD8E9"/>
                </a:solidFill>
                <a:latin typeface="Prompt Medium"/>
                <a:ea typeface="Prompt Medium"/>
                <a:cs typeface="Prompt Medium"/>
                <a:sym typeface="Prompt Medium"/>
              </a:defRPr>
            </a:lvl1pPr>
          </a:lstStyle>
          <a:p>
            <a:pPr/>
            <a:r>
              <a:t>Ingestion</a:t>
            </a:r>
          </a:p>
        </p:txBody>
      </p:sp>
      <p:sp>
        <p:nvSpPr>
          <p:cNvPr id="204" name="Text 3"/>
          <p:cNvSpPr txBox="1"/>
          <p:nvPr/>
        </p:nvSpPr>
        <p:spPr>
          <a:xfrm>
            <a:off x="1756660" y="4161259"/>
            <a:ext cx="893523" cy="13873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900"/>
              </a:lnSpc>
              <a:defRPr sz="700">
                <a:solidFill>
                  <a:srgbClr val="DAD8E9"/>
                </a:solidFill>
                <a:latin typeface="Mukta Light"/>
                <a:ea typeface="Mukta Light"/>
                <a:cs typeface="Mukta Light"/>
                <a:sym typeface="Mukta Light"/>
              </a:defRPr>
            </a:lvl1pPr>
          </a:lstStyle>
          <a:p>
            <a:pPr/>
            <a:r>
              <a:t>Merge 6 MIMIC-IV tables</a:t>
            </a:r>
          </a:p>
        </p:txBody>
      </p:sp>
      <p:pic>
        <p:nvPicPr>
          <p:cNvPr id="205" name="Image 2" descr="Image 2"/>
          <p:cNvPicPr>
            <a:picLocks noChangeAspect="1"/>
          </p:cNvPicPr>
          <p:nvPr/>
        </p:nvPicPr>
        <p:blipFill>
          <a:blip r:embed="rId4">
            <a:extLst/>
          </a:blip>
          <a:stretch>
            <a:fillRect/>
          </a:stretch>
        </p:blipFill>
        <p:spPr>
          <a:xfrm>
            <a:off x="2098467" y="4597429"/>
            <a:ext cx="215250" cy="215250"/>
          </a:xfrm>
          <a:prstGeom prst="rect">
            <a:avLst/>
          </a:prstGeom>
          <a:ln w="12700">
            <a:miter lim="400000"/>
          </a:ln>
        </p:spPr>
      </p:pic>
      <p:sp>
        <p:nvSpPr>
          <p:cNvPr id="206" name="Text 4"/>
          <p:cNvSpPr txBox="1"/>
          <p:nvPr/>
        </p:nvSpPr>
        <p:spPr>
          <a:xfrm>
            <a:off x="2836131" y="5799149"/>
            <a:ext cx="662138" cy="127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1000"/>
              </a:lnSpc>
              <a:defRPr sz="800">
                <a:solidFill>
                  <a:srgbClr val="DAD8E9"/>
                </a:solidFill>
                <a:latin typeface="Prompt Medium"/>
                <a:ea typeface="Prompt Medium"/>
                <a:cs typeface="Prompt Medium"/>
                <a:sym typeface="Prompt Medium"/>
              </a:defRPr>
            </a:lvl1pPr>
          </a:lstStyle>
          <a:p>
            <a:pPr/>
            <a:r>
              <a:t>Preprocessing</a:t>
            </a:r>
          </a:p>
        </p:txBody>
      </p:sp>
      <p:sp>
        <p:nvSpPr>
          <p:cNvPr id="207" name="Text 5"/>
          <p:cNvSpPr txBox="1"/>
          <p:nvPr/>
        </p:nvSpPr>
        <p:spPr>
          <a:xfrm>
            <a:off x="2678637" y="5975353"/>
            <a:ext cx="977128" cy="25303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900"/>
              </a:lnSpc>
              <a:defRPr sz="700">
                <a:solidFill>
                  <a:srgbClr val="DAD8E9"/>
                </a:solidFill>
                <a:latin typeface="Mukta Light"/>
                <a:ea typeface="Mukta Light"/>
                <a:cs typeface="Mukta Light"/>
                <a:sym typeface="Mukta Light"/>
              </a:defRPr>
            </a:lvl1pPr>
          </a:lstStyle>
          <a:p>
            <a:pPr/>
            <a:r>
              <a:t>Impute, encode, build 13/20 variants</a:t>
            </a:r>
          </a:p>
        </p:txBody>
      </p:sp>
      <p:pic>
        <p:nvPicPr>
          <p:cNvPr id="208" name="Image 3" descr="Image 3"/>
          <p:cNvPicPr>
            <a:picLocks noChangeAspect="1"/>
          </p:cNvPicPr>
          <p:nvPr/>
        </p:nvPicPr>
        <p:blipFill>
          <a:blip r:embed="rId4">
            <a:extLst/>
          </a:blip>
          <a:stretch>
            <a:fillRect/>
          </a:stretch>
        </p:blipFill>
        <p:spPr>
          <a:xfrm>
            <a:off x="3059577" y="5382335"/>
            <a:ext cx="215250" cy="215250"/>
          </a:xfrm>
          <a:prstGeom prst="rect">
            <a:avLst/>
          </a:prstGeom>
          <a:ln w="12700">
            <a:miter lim="400000"/>
          </a:ln>
        </p:spPr>
      </p:pic>
      <p:sp>
        <p:nvSpPr>
          <p:cNvPr id="209" name="Text 6"/>
          <p:cNvSpPr txBox="1"/>
          <p:nvPr/>
        </p:nvSpPr>
        <p:spPr>
          <a:xfrm>
            <a:off x="3629066" y="3899622"/>
            <a:ext cx="971790" cy="2519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000"/>
              </a:lnSpc>
              <a:defRPr sz="800">
                <a:solidFill>
                  <a:srgbClr val="DAD8E9"/>
                </a:solidFill>
                <a:latin typeface="Prompt Medium"/>
                <a:ea typeface="Prompt Medium"/>
                <a:cs typeface="Prompt Medium"/>
                <a:sym typeface="Prompt Medium"/>
              </a:defRPr>
            </a:lvl1pPr>
          </a:lstStyle>
          <a:p>
            <a:pPr/>
            <a:r>
              <a:t>Hyperparameter Tuning</a:t>
            </a:r>
          </a:p>
        </p:txBody>
      </p:sp>
      <p:sp>
        <p:nvSpPr>
          <p:cNvPr id="210" name="Text 7"/>
          <p:cNvSpPr txBox="1"/>
          <p:nvPr/>
        </p:nvSpPr>
        <p:spPr>
          <a:xfrm>
            <a:off x="3676422" y="4209315"/>
            <a:ext cx="877076" cy="13873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900"/>
              </a:lnSpc>
              <a:defRPr sz="700">
                <a:solidFill>
                  <a:srgbClr val="DAD8E9"/>
                </a:solidFill>
                <a:latin typeface="Mukta Light"/>
                <a:ea typeface="Mukta Light"/>
                <a:cs typeface="Mukta Light"/>
                <a:sym typeface="Mukta Light"/>
              </a:defRPr>
            </a:lvl1pPr>
          </a:lstStyle>
          <a:p>
            <a:pPr/>
            <a:r>
              <a:t>Optuna TPE with SQLite</a:t>
            </a:r>
          </a:p>
        </p:txBody>
      </p:sp>
      <p:pic>
        <p:nvPicPr>
          <p:cNvPr id="211" name="Image 4" descr="Image 4"/>
          <p:cNvPicPr>
            <a:picLocks noChangeAspect="1"/>
          </p:cNvPicPr>
          <p:nvPr/>
        </p:nvPicPr>
        <p:blipFill>
          <a:blip r:embed="rId4">
            <a:extLst/>
          </a:blip>
          <a:stretch>
            <a:fillRect/>
          </a:stretch>
        </p:blipFill>
        <p:spPr>
          <a:xfrm>
            <a:off x="4026025" y="4576071"/>
            <a:ext cx="215251" cy="215251"/>
          </a:xfrm>
          <a:prstGeom prst="rect">
            <a:avLst/>
          </a:prstGeom>
          <a:ln w="12700">
            <a:miter lim="400000"/>
          </a:ln>
        </p:spPr>
      </p:pic>
      <p:sp>
        <p:nvSpPr>
          <p:cNvPr id="212" name="Text 8"/>
          <p:cNvSpPr txBox="1"/>
          <p:nvPr/>
        </p:nvSpPr>
        <p:spPr>
          <a:xfrm>
            <a:off x="4590176" y="5732405"/>
            <a:ext cx="971790" cy="2519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000"/>
              </a:lnSpc>
              <a:defRPr sz="800">
                <a:solidFill>
                  <a:srgbClr val="DAD8E9"/>
                </a:solidFill>
                <a:latin typeface="Prompt Medium"/>
                <a:ea typeface="Prompt Medium"/>
                <a:cs typeface="Prompt Medium"/>
                <a:sym typeface="Prompt Medium"/>
              </a:defRPr>
            </a:lvl1pPr>
          </a:lstStyle>
          <a:p>
            <a:pPr/>
            <a:r>
              <a:t>Training &amp; Deployment</a:t>
            </a:r>
          </a:p>
        </p:txBody>
      </p:sp>
      <p:sp>
        <p:nvSpPr>
          <p:cNvPr id="213" name="Text 9"/>
          <p:cNvSpPr txBox="1"/>
          <p:nvPr/>
        </p:nvSpPr>
        <p:spPr>
          <a:xfrm>
            <a:off x="4590176" y="6042097"/>
            <a:ext cx="971790" cy="25303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900"/>
              </a:lnSpc>
              <a:defRPr sz="700">
                <a:solidFill>
                  <a:srgbClr val="DAD8E9"/>
                </a:solidFill>
                <a:latin typeface="Mukta Light"/>
                <a:ea typeface="Mukta Light"/>
                <a:cs typeface="Mukta Light"/>
                <a:sym typeface="Mukta Light"/>
              </a:defRPr>
            </a:lvl1pPr>
          </a:lstStyle>
          <a:p>
            <a:pPr/>
            <a:r>
              <a:t>Models, ensemble, Streamlit dashboard</a:t>
            </a:r>
          </a:p>
        </p:txBody>
      </p:sp>
      <p:pic>
        <p:nvPicPr>
          <p:cNvPr id="214" name="Image 5" descr="Image 5"/>
          <p:cNvPicPr>
            <a:picLocks noChangeAspect="1"/>
          </p:cNvPicPr>
          <p:nvPr/>
        </p:nvPicPr>
        <p:blipFill>
          <a:blip r:embed="rId4">
            <a:extLst/>
          </a:blip>
          <a:stretch>
            <a:fillRect/>
          </a:stretch>
        </p:blipFill>
        <p:spPr>
          <a:xfrm>
            <a:off x="4971115" y="5382335"/>
            <a:ext cx="215251" cy="215250"/>
          </a:xfrm>
          <a:prstGeom prst="rect">
            <a:avLst/>
          </a:prstGeom>
          <a:ln w="12700">
            <a:miter lim="400000"/>
          </a:ln>
        </p:spPr>
      </p:pic>
      <p:sp>
        <p:nvSpPr>
          <p:cNvPr id="215" name="Rectangle"/>
          <p:cNvSpPr/>
          <p:nvPr/>
        </p:nvSpPr>
        <p:spPr>
          <a:xfrm>
            <a:off x="11911489" y="7611588"/>
            <a:ext cx="2653543" cy="675245"/>
          </a:xfrm>
          <a:prstGeom prst="rect">
            <a:avLst/>
          </a:prstGeom>
          <a:solidFill>
            <a:srgbClr val="0D0920"/>
          </a:solidFill>
          <a:ln w="12700">
            <a:miter lim="400000"/>
          </a:ln>
        </p:spPr>
        <p:txBody>
          <a:bodyPr lIns="45718" tIns="45718" rIns="45718" bIns="45718" anchor="ctr"/>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Text 0"/>
          <p:cNvSpPr txBox="1"/>
          <p:nvPr/>
        </p:nvSpPr>
        <p:spPr>
          <a:xfrm>
            <a:off x="881061" y="947856"/>
            <a:ext cx="4491833" cy="5986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800">
                <a:solidFill>
                  <a:srgbClr val="C6BFEE"/>
                </a:solidFill>
                <a:latin typeface="Prompt Medium"/>
                <a:ea typeface="Prompt Medium"/>
                <a:cs typeface="Prompt Medium"/>
                <a:sym typeface="Prompt Medium"/>
              </a:defRPr>
            </a:lvl1pPr>
          </a:lstStyle>
          <a:p>
            <a:pPr/>
            <a:r>
              <a:t>Problem Formulation</a:t>
            </a:r>
          </a:p>
        </p:txBody>
      </p:sp>
      <p:sp>
        <p:nvSpPr>
          <p:cNvPr id="218" name="Text 1"/>
          <p:cNvSpPr txBox="1"/>
          <p:nvPr/>
        </p:nvSpPr>
        <p:spPr>
          <a:xfrm>
            <a:off x="881061" y="2000368"/>
            <a:ext cx="12868278" cy="7320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700"/>
              </a:lnSpc>
              <a:defRPr sz="1700">
                <a:solidFill>
                  <a:srgbClr val="DAD8E9"/>
                </a:solidFill>
                <a:latin typeface="Mukta Light"/>
                <a:ea typeface="Mukta Light"/>
                <a:cs typeface="Mukta Light"/>
                <a:sym typeface="Mukta Light"/>
              </a:defRPr>
            </a:lvl1pPr>
          </a:lstStyle>
          <a:p>
            <a:pPr/>
            <a:r>
              <a:t>Binary classification at the prescription-event level. Each row represents one drug administered during one hospital admission. The model predicts whether that event results in an adverse drug reaction.</a:t>
            </a:r>
          </a:p>
        </p:txBody>
      </p:sp>
      <p:pic>
        <p:nvPicPr>
          <p:cNvPr id="219" name="Image 0" descr="Image 0"/>
          <p:cNvPicPr>
            <a:picLocks noChangeAspect="1"/>
          </p:cNvPicPr>
          <p:nvPr/>
        </p:nvPicPr>
        <p:blipFill>
          <a:blip r:embed="rId2">
            <a:extLst/>
          </a:blip>
          <a:stretch>
            <a:fillRect/>
          </a:stretch>
        </p:blipFill>
        <p:spPr>
          <a:xfrm>
            <a:off x="881062" y="2952987"/>
            <a:ext cx="12868276" cy="1341122"/>
          </a:xfrm>
          <a:prstGeom prst="rect">
            <a:avLst/>
          </a:prstGeom>
          <a:ln w="12700">
            <a:miter lim="400000"/>
          </a:ln>
        </p:spPr>
      </p:pic>
      <p:sp>
        <p:nvSpPr>
          <p:cNvPr id="220" name="Text 2"/>
          <p:cNvSpPr txBox="1"/>
          <p:nvPr/>
        </p:nvSpPr>
        <p:spPr>
          <a:xfrm>
            <a:off x="881061" y="4762143"/>
            <a:ext cx="1514935" cy="29933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C6BFEE"/>
                </a:solidFill>
                <a:latin typeface="Prompt Medium"/>
                <a:ea typeface="Prompt Medium"/>
                <a:cs typeface="Prompt Medium"/>
                <a:sym typeface="Prompt Medium"/>
              </a:defRPr>
            </a:lvl1pPr>
          </a:lstStyle>
          <a:p>
            <a:pPr/>
            <a:r>
              <a:t>Loss Function</a:t>
            </a:r>
          </a:p>
        </p:txBody>
      </p:sp>
      <p:sp>
        <p:nvSpPr>
          <p:cNvPr id="221" name="Text 3"/>
          <p:cNvSpPr txBox="1"/>
          <p:nvPr/>
        </p:nvSpPr>
        <p:spPr>
          <a:xfrm>
            <a:off x="881062" y="5288398"/>
            <a:ext cx="3931923" cy="17607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ts val="2700"/>
              </a:lnSpc>
              <a:buSzPct val="100000"/>
              <a:buChar char="•"/>
              <a:defRPr sz="1700">
                <a:solidFill>
                  <a:srgbClr val="DAD8E9"/>
                </a:solidFill>
                <a:latin typeface="Mukta Light"/>
                <a:ea typeface="Mukta Light"/>
                <a:cs typeface="Mukta Light"/>
                <a:sym typeface="Mukta Light"/>
              </a:defRPr>
            </a:pPr>
            <a:r>
              <a:t>Focal Loss (α=0.25, γ=2.0) - down-weights easy negatives</a:t>
            </a:r>
          </a:p>
          <a:p>
            <a:pPr marL="342900" indent="-342900">
              <a:lnSpc>
                <a:spcPts val="2700"/>
              </a:lnSpc>
              <a:buSzPct val="100000"/>
              <a:buChar char="•"/>
              <a:defRPr sz="1700">
                <a:solidFill>
                  <a:srgbClr val="DAD8E9"/>
                </a:solidFill>
                <a:latin typeface="Mukta Light"/>
                <a:ea typeface="Mukta Light"/>
                <a:cs typeface="Mukta Light"/>
                <a:sym typeface="Mukta Light"/>
              </a:defRPr>
            </a:pPr>
            <a:r>
              <a:t>Focuses training on hard minority ADR cases</a:t>
            </a:r>
          </a:p>
          <a:p>
            <a:pPr marL="342900" indent="-342900">
              <a:lnSpc>
                <a:spcPts val="2700"/>
              </a:lnSpc>
              <a:buSzPct val="100000"/>
              <a:buChar char="•"/>
              <a:defRPr sz="1700">
                <a:solidFill>
                  <a:srgbClr val="DAD8E9"/>
                </a:solidFill>
                <a:latin typeface="Mukta Light"/>
                <a:ea typeface="Mukta Light"/>
                <a:cs typeface="Mukta Light"/>
                <a:sym typeface="Mukta Light"/>
              </a:defRPr>
            </a:pPr>
            <a:r>
              <a:t>Optional weighted BCE as alternative</a:t>
            </a:r>
          </a:p>
        </p:txBody>
      </p:sp>
      <p:sp>
        <p:nvSpPr>
          <p:cNvPr id="222" name="Text 4"/>
          <p:cNvSpPr txBox="1"/>
          <p:nvPr/>
        </p:nvSpPr>
        <p:spPr>
          <a:xfrm>
            <a:off x="5358050" y="4762143"/>
            <a:ext cx="1796412" cy="29933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C6BFEE"/>
                </a:solidFill>
                <a:latin typeface="Prompt Medium"/>
                <a:ea typeface="Prompt Medium"/>
                <a:cs typeface="Prompt Medium"/>
                <a:sym typeface="Prompt Medium"/>
              </a:defRPr>
            </a:lvl1pPr>
          </a:lstStyle>
          <a:p>
            <a:pPr/>
            <a:r>
              <a:t>Class Imbalance</a:t>
            </a:r>
          </a:p>
        </p:txBody>
      </p:sp>
      <p:sp>
        <p:nvSpPr>
          <p:cNvPr id="223" name="Text 5"/>
          <p:cNvSpPr txBox="1"/>
          <p:nvPr/>
        </p:nvSpPr>
        <p:spPr>
          <a:xfrm>
            <a:off x="5358050" y="5288398"/>
            <a:ext cx="3930611" cy="10749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ts val="2700"/>
              </a:lnSpc>
              <a:buSzPct val="100000"/>
              <a:buChar char="•"/>
              <a:defRPr sz="1700">
                <a:solidFill>
                  <a:srgbClr val="DAD8E9"/>
                </a:solidFill>
                <a:latin typeface="Mukta Light"/>
                <a:ea typeface="Mukta Light"/>
                <a:cs typeface="Mukta Light"/>
                <a:sym typeface="Mukta Light"/>
              </a:defRPr>
            </a:pPr>
            <a:r>
              <a:t>ADR prevalence often &lt;10% of rows</a:t>
            </a:r>
          </a:p>
          <a:p>
            <a:pPr marL="342900" indent="-342900">
              <a:lnSpc>
                <a:spcPts val="2700"/>
              </a:lnSpc>
              <a:buSzPct val="100000"/>
              <a:buChar char="•"/>
              <a:defRPr sz="1700">
                <a:solidFill>
                  <a:srgbClr val="DAD8E9"/>
                </a:solidFill>
                <a:latin typeface="Mukta Light"/>
                <a:ea typeface="Mukta Light"/>
                <a:cs typeface="Mukta Light"/>
                <a:sym typeface="Mukta Light"/>
              </a:defRPr>
            </a:pPr>
            <a:r>
              <a:t>Stratified train/val/test splits</a:t>
            </a:r>
          </a:p>
          <a:p>
            <a:pPr marL="342900" indent="-342900">
              <a:lnSpc>
                <a:spcPts val="2700"/>
              </a:lnSpc>
              <a:buSzPct val="100000"/>
              <a:buChar char="•"/>
              <a:defRPr sz="1700">
                <a:solidFill>
                  <a:srgbClr val="DAD8E9"/>
                </a:solidFill>
                <a:latin typeface="Mukta Light"/>
                <a:ea typeface="Mukta Light"/>
                <a:cs typeface="Mukta Light"/>
                <a:sym typeface="Mukta Light"/>
              </a:defRPr>
            </a:pPr>
            <a:r>
              <a:t>Decision threshold tuned at 0.3, 0.5, 0.7</a:t>
            </a:r>
          </a:p>
        </p:txBody>
      </p:sp>
      <p:sp>
        <p:nvSpPr>
          <p:cNvPr id="224" name="Text 6"/>
          <p:cNvSpPr txBox="1"/>
          <p:nvPr/>
        </p:nvSpPr>
        <p:spPr>
          <a:xfrm>
            <a:off x="9833729" y="4762143"/>
            <a:ext cx="1984103" cy="29933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C6BFEE"/>
                </a:solidFill>
                <a:latin typeface="Prompt Medium"/>
                <a:ea typeface="Prompt Medium"/>
                <a:cs typeface="Prompt Medium"/>
                <a:sym typeface="Prompt Medium"/>
              </a:defRPr>
            </a:lvl1pPr>
          </a:lstStyle>
          <a:p>
            <a:pPr/>
            <a:r>
              <a:t>Evaluation Metrics</a:t>
            </a:r>
          </a:p>
        </p:txBody>
      </p:sp>
      <p:sp>
        <p:nvSpPr>
          <p:cNvPr id="225" name="Text 7"/>
          <p:cNvSpPr txBox="1"/>
          <p:nvPr/>
        </p:nvSpPr>
        <p:spPr>
          <a:xfrm>
            <a:off x="9833729" y="5288398"/>
            <a:ext cx="3930611" cy="14178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ts val="2700"/>
              </a:lnSpc>
              <a:buSzPct val="100000"/>
              <a:buChar char="•"/>
              <a:defRPr sz="1700">
                <a:solidFill>
                  <a:srgbClr val="DAD8E9"/>
                </a:solidFill>
                <a:latin typeface="Mukta Light"/>
                <a:ea typeface="Mukta Light"/>
                <a:cs typeface="Mukta Light"/>
                <a:sym typeface="Mukta Light"/>
              </a:defRPr>
            </a:pPr>
            <a:r>
              <a:t>AUROC - primary (threshold-free)</a:t>
            </a:r>
          </a:p>
          <a:p>
            <a:pPr marL="342900" indent="-342900">
              <a:lnSpc>
                <a:spcPts val="2700"/>
              </a:lnSpc>
              <a:buSzPct val="100000"/>
              <a:buChar char="•"/>
              <a:defRPr sz="1700">
                <a:solidFill>
                  <a:srgbClr val="DAD8E9"/>
                </a:solidFill>
                <a:latin typeface="Mukta Light"/>
                <a:ea typeface="Mukta Light"/>
                <a:cs typeface="Mukta Light"/>
                <a:sym typeface="Mukta Light"/>
              </a:defRPr>
            </a:pPr>
            <a:r>
              <a:t>AUPRC - more honest under imbalance</a:t>
            </a:r>
          </a:p>
          <a:p>
            <a:pPr marL="342900" indent="-342900">
              <a:lnSpc>
                <a:spcPts val="2700"/>
              </a:lnSpc>
              <a:buSzPct val="100000"/>
              <a:buChar char="•"/>
              <a:defRPr sz="1700">
                <a:solidFill>
                  <a:srgbClr val="DAD8E9"/>
                </a:solidFill>
                <a:latin typeface="Mukta Light"/>
                <a:ea typeface="Mukta Light"/>
                <a:cs typeface="Mukta Light"/>
                <a:sym typeface="Mukta Light"/>
              </a:defRPr>
            </a:pPr>
            <a:r>
              <a:t>F1, Precision, Recall, Sensitivity &amp; Specificity</a:t>
            </a:r>
          </a:p>
        </p:txBody>
      </p:sp>
      <p:sp>
        <p:nvSpPr>
          <p:cNvPr id="226" name="Rectangle"/>
          <p:cNvSpPr/>
          <p:nvPr/>
        </p:nvSpPr>
        <p:spPr>
          <a:xfrm>
            <a:off x="11911489" y="7611588"/>
            <a:ext cx="2653543" cy="675245"/>
          </a:xfrm>
          <a:prstGeom prst="rect">
            <a:avLst/>
          </a:prstGeom>
          <a:solidFill>
            <a:srgbClr val="0D0920"/>
          </a:solidFill>
          <a:ln w="12700">
            <a:miter lim="400000"/>
          </a:ln>
        </p:spPr>
        <p:txBody>
          <a:bodyPr lIns="45718" tIns="45718" rIns="45718" bIns="45718" anchor="ctr"/>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Text 0"/>
          <p:cNvSpPr txBox="1"/>
          <p:nvPr/>
        </p:nvSpPr>
        <p:spPr>
          <a:xfrm>
            <a:off x="876180" y="553282"/>
            <a:ext cx="8032553" cy="49986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000"/>
              </a:lnSpc>
              <a:defRPr sz="3200">
                <a:solidFill>
                  <a:srgbClr val="C6BFEE"/>
                </a:solidFill>
                <a:latin typeface="Prompt Medium"/>
                <a:ea typeface="Prompt Medium"/>
                <a:cs typeface="Prompt Medium"/>
                <a:sym typeface="Prompt Medium"/>
              </a:defRPr>
            </a:lvl1pPr>
          </a:lstStyle>
          <a:p>
            <a:pPr/>
            <a:r>
              <a:t>Pipeline &amp; Four Deep Learning Architectures</a:t>
            </a:r>
          </a:p>
        </p:txBody>
      </p:sp>
      <p:pic>
        <p:nvPicPr>
          <p:cNvPr id="229" name="Image 0" descr="Image 0"/>
          <p:cNvPicPr>
            <a:picLocks noChangeAspect="1"/>
          </p:cNvPicPr>
          <p:nvPr/>
        </p:nvPicPr>
        <p:blipFill>
          <a:blip r:embed="rId2">
            <a:extLst/>
          </a:blip>
          <a:stretch>
            <a:fillRect/>
          </a:stretch>
        </p:blipFill>
        <p:spPr>
          <a:xfrm>
            <a:off x="1946075" y="1369933"/>
            <a:ext cx="10738011" cy="2841309"/>
          </a:xfrm>
          <a:prstGeom prst="rect">
            <a:avLst/>
          </a:prstGeom>
          <a:ln w="12700">
            <a:miter lim="400000"/>
          </a:ln>
        </p:spPr>
      </p:pic>
      <p:sp>
        <p:nvSpPr>
          <p:cNvPr id="230" name="Text 1"/>
          <p:cNvSpPr txBox="1"/>
          <p:nvPr/>
        </p:nvSpPr>
        <p:spPr>
          <a:xfrm>
            <a:off x="2986660" y="2330635"/>
            <a:ext cx="1198663" cy="2499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000"/>
              </a:lnSpc>
              <a:defRPr sz="1600">
                <a:solidFill>
                  <a:srgbClr val="C6BFEE"/>
                </a:solidFill>
                <a:latin typeface="Prompt Medium"/>
                <a:ea typeface="Prompt Medium"/>
                <a:cs typeface="Prompt Medium"/>
                <a:sym typeface="Prompt Medium"/>
              </a:defRPr>
            </a:lvl1pPr>
          </a:lstStyle>
          <a:p>
            <a:pPr/>
            <a:r>
              <a:t>Feature Prep</a:t>
            </a:r>
          </a:p>
        </p:txBody>
      </p:sp>
      <p:sp>
        <p:nvSpPr>
          <p:cNvPr id="231" name="Text 2"/>
          <p:cNvSpPr txBox="1"/>
          <p:nvPr/>
        </p:nvSpPr>
        <p:spPr>
          <a:xfrm>
            <a:off x="2774425" y="2671633"/>
            <a:ext cx="1623136" cy="4603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600"/>
              </a:lnSpc>
              <a:defRPr sz="1400">
                <a:solidFill>
                  <a:srgbClr val="DAD8E9"/>
                </a:solidFill>
                <a:latin typeface="Mukta Light"/>
                <a:ea typeface="Mukta Light"/>
                <a:cs typeface="Mukta Light"/>
                <a:sym typeface="Mukta Light"/>
              </a:defRPr>
            </a:lvl1pPr>
          </a:lstStyle>
          <a:p>
            <a:pPr/>
            <a:r>
              <a:t>Construct shared feature matrix</a:t>
            </a:r>
          </a:p>
        </p:txBody>
      </p:sp>
      <p:sp>
        <p:nvSpPr>
          <p:cNvPr id="232" name="Text 3"/>
          <p:cNvSpPr txBox="1"/>
          <p:nvPr/>
        </p:nvSpPr>
        <p:spPr>
          <a:xfrm>
            <a:off x="4908763" y="2483049"/>
            <a:ext cx="1074441" cy="2499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000"/>
              </a:lnSpc>
              <a:defRPr sz="1600">
                <a:solidFill>
                  <a:srgbClr val="C6BFEE"/>
                </a:solidFill>
                <a:latin typeface="Prompt Medium"/>
                <a:ea typeface="Prompt Medium"/>
                <a:cs typeface="Prompt Medium"/>
                <a:sym typeface="Prompt Medium"/>
              </a:defRPr>
            </a:lvl1pPr>
          </a:lstStyle>
          <a:p>
            <a:pPr/>
            <a:r>
              <a:t>Model Build</a:t>
            </a:r>
          </a:p>
        </p:txBody>
      </p:sp>
      <p:sp>
        <p:nvSpPr>
          <p:cNvPr id="233" name="Text 4"/>
          <p:cNvSpPr txBox="1"/>
          <p:nvPr/>
        </p:nvSpPr>
        <p:spPr>
          <a:xfrm>
            <a:off x="4634417" y="2824047"/>
            <a:ext cx="1623134" cy="4603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600"/>
              </a:lnSpc>
              <a:defRPr sz="1400">
                <a:solidFill>
                  <a:srgbClr val="DAD8E9"/>
                </a:solidFill>
                <a:latin typeface="Mukta Light"/>
                <a:ea typeface="Mukta Light"/>
                <a:cs typeface="Mukta Light"/>
                <a:sym typeface="Mukta Light"/>
              </a:defRPr>
            </a:lvl1pPr>
          </a:lstStyle>
          <a:p>
            <a:pPr/>
            <a:r>
              <a:t>Implement networks in PyTorch</a:t>
            </a:r>
          </a:p>
        </p:txBody>
      </p:sp>
      <p:sp>
        <p:nvSpPr>
          <p:cNvPr id="234" name="Text 5"/>
          <p:cNvSpPr txBox="1"/>
          <p:nvPr/>
        </p:nvSpPr>
        <p:spPr>
          <a:xfrm>
            <a:off x="6936284" y="2330635"/>
            <a:ext cx="739379" cy="2499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000"/>
              </a:lnSpc>
              <a:defRPr sz="1600">
                <a:solidFill>
                  <a:srgbClr val="C6BFEE"/>
                </a:solidFill>
                <a:latin typeface="Prompt Medium"/>
                <a:ea typeface="Prompt Medium"/>
                <a:cs typeface="Prompt Medium"/>
                <a:sym typeface="Prompt Medium"/>
              </a:defRPr>
            </a:lvl1pPr>
          </a:lstStyle>
          <a:p>
            <a:pPr/>
            <a:r>
              <a:t>Training</a:t>
            </a:r>
          </a:p>
        </p:txBody>
      </p:sp>
      <p:sp>
        <p:nvSpPr>
          <p:cNvPr id="235" name="Text 6"/>
          <p:cNvSpPr txBox="1"/>
          <p:nvPr/>
        </p:nvSpPr>
        <p:spPr>
          <a:xfrm>
            <a:off x="6494407" y="2671633"/>
            <a:ext cx="1623134" cy="4603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600"/>
              </a:lnSpc>
              <a:defRPr sz="1400">
                <a:solidFill>
                  <a:srgbClr val="DAD8E9"/>
                </a:solidFill>
                <a:latin typeface="Mukta Light"/>
                <a:ea typeface="Mukta Light"/>
                <a:cs typeface="Mukta Light"/>
                <a:sym typeface="Mukta Light"/>
              </a:defRPr>
            </a:lvl1pPr>
          </a:lstStyle>
          <a:p>
            <a:pPr/>
            <a:r>
              <a:t>Focal Loss with Adam optimizer</a:t>
            </a:r>
          </a:p>
        </p:txBody>
      </p:sp>
      <p:sp>
        <p:nvSpPr>
          <p:cNvPr id="236" name="Text 7"/>
          <p:cNvSpPr txBox="1"/>
          <p:nvPr/>
        </p:nvSpPr>
        <p:spPr>
          <a:xfrm>
            <a:off x="8510076" y="2269925"/>
            <a:ext cx="1311772" cy="249934"/>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000"/>
              </a:lnSpc>
              <a:defRPr sz="1600">
                <a:solidFill>
                  <a:srgbClr val="C6BFEE"/>
                </a:solidFill>
                <a:latin typeface="Prompt Medium"/>
                <a:ea typeface="Prompt Medium"/>
                <a:cs typeface="Prompt Medium"/>
                <a:sym typeface="Prompt Medium"/>
              </a:defRPr>
            </a:lvl1pPr>
          </a:lstStyle>
          <a:p>
            <a:pPr/>
            <a:r>
              <a:t>Shared Config</a:t>
            </a:r>
          </a:p>
        </p:txBody>
      </p:sp>
      <p:sp>
        <p:nvSpPr>
          <p:cNvPr id="237" name="Text 8"/>
          <p:cNvSpPr txBox="1"/>
          <p:nvPr/>
        </p:nvSpPr>
        <p:spPr>
          <a:xfrm>
            <a:off x="8354397" y="2610923"/>
            <a:ext cx="1623135" cy="6635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600"/>
              </a:lnSpc>
              <a:defRPr sz="1400">
                <a:solidFill>
                  <a:srgbClr val="DAD8E9"/>
                </a:solidFill>
                <a:latin typeface="Mukta Light"/>
                <a:ea typeface="Mukta Light"/>
                <a:cs typeface="Mukta Light"/>
                <a:sym typeface="Mukta Light"/>
              </a:defRPr>
            </a:lvl1pPr>
          </a:lstStyle>
          <a:p>
            <a:pPr/>
            <a:r>
              <a:t>ReduceLROnPlateau · EarlyStopping · bs 1024</a:t>
            </a:r>
          </a:p>
        </p:txBody>
      </p:sp>
      <p:sp>
        <p:nvSpPr>
          <p:cNvPr id="238" name="Text 9"/>
          <p:cNvSpPr txBox="1"/>
          <p:nvPr/>
        </p:nvSpPr>
        <p:spPr>
          <a:xfrm>
            <a:off x="10555471" y="2330635"/>
            <a:ext cx="961630" cy="24993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gn="ctr">
              <a:lnSpc>
                <a:spcPts val="2000"/>
              </a:lnSpc>
              <a:defRPr sz="1600">
                <a:solidFill>
                  <a:srgbClr val="C6BFEE"/>
                </a:solidFill>
                <a:latin typeface="Prompt Medium"/>
                <a:ea typeface="Prompt Medium"/>
                <a:cs typeface="Prompt Medium"/>
                <a:sym typeface="Prompt Medium"/>
              </a:defRPr>
            </a:lvl1pPr>
          </a:lstStyle>
          <a:p>
            <a:pPr/>
            <a:r>
              <a:t>Evaluation</a:t>
            </a:r>
          </a:p>
        </p:txBody>
      </p:sp>
      <p:sp>
        <p:nvSpPr>
          <p:cNvPr id="239" name="Text 10"/>
          <p:cNvSpPr txBox="1"/>
          <p:nvPr/>
        </p:nvSpPr>
        <p:spPr>
          <a:xfrm>
            <a:off x="10224720" y="2671633"/>
            <a:ext cx="1623134" cy="46035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nSpc>
                <a:spcPts val="1600"/>
              </a:lnSpc>
              <a:defRPr sz="1400">
                <a:solidFill>
                  <a:srgbClr val="DAD8E9"/>
                </a:solidFill>
                <a:latin typeface="Mukta Light"/>
                <a:ea typeface="Mukta Light"/>
                <a:cs typeface="Mukta Light"/>
                <a:sym typeface="Mukta Light"/>
              </a:defRPr>
            </a:lvl1pPr>
          </a:lstStyle>
          <a:p>
            <a:pPr/>
            <a:r>
              <a:t>Monitor validation AUROC</a:t>
            </a:r>
          </a:p>
        </p:txBody>
      </p:sp>
      <p:pic>
        <p:nvPicPr>
          <p:cNvPr id="240" name="Image 1" descr="Image 1"/>
          <p:cNvPicPr>
            <a:picLocks noChangeAspect="1"/>
          </p:cNvPicPr>
          <p:nvPr/>
        </p:nvPicPr>
        <p:blipFill>
          <a:blip r:embed="rId3">
            <a:extLst/>
          </a:blip>
          <a:stretch>
            <a:fillRect/>
          </a:stretch>
        </p:blipFill>
        <p:spPr>
          <a:xfrm>
            <a:off x="3535798" y="4383523"/>
            <a:ext cx="7558685" cy="3292674"/>
          </a:xfrm>
          <a:prstGeom prst="rect">
            <a:avLst/>
          </a:prstGeom>
          <a:ln w="12700">
            <a:miter lim="400000"/>
          </a:ln>
        </p:spPr>
      </p:pic>
      <p:sp>
        <p:nvSpPr>
          <p:cNvPr id="241" name="Rectangle"/>
          <p:cNvSpPr/>
          <p:nvPr/>
        </p:nvSpPr>
        <p:spPr>
          <a:xfrm>
            <a:off x="11911489" y="7611588"/>
            <a:ext cx="2653543" cy="675245"/>
          </a:xfrm>
          <a:prstGeom prst="rect">
            <a:avLst/>
          </a:prstGeom>
          <a:solidFill>
            <a:srgbClr val="0D0920"/>
          </a:solidFill>
          <a:ln w="12700">
            <a:miter lim="400000"/>
          </a:ln>
        </p:spPr>
        <p:txBody>
          <a:bodyPr lIns="45718" tIns="45718" rIns="45718" bIns="45718" anchor="ctr"/>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Text 0"/>
          <p:cNvSpPr txBox="1"/>
          <p:nvPr/>
        </p:nvSpPr>
        <p:spPr>
          <a:xfrm>
            <a:off x="881062" y="1487328"/>
            <a:ext cx="4251710" cy="5986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800">
                <a:solidFill>
                  <a:srgbClr val="C6BFEE"/>
                </a:solidFill>
                <a:latin typeface="Prompt Medium"/>
                <a:ea typeface="Prompt Medium"/>
                <a:cs typeface="Prompt Medium"/>
                <a:sym typeface="Prompt Medium"/>
              </a:defRPr>
            </a:lvl1pPr>
          </a:lstStyle>
          <a:p>
            <a:pPr/>
            <a:r>
              <a:t>End-to-end Pipeline</a:t>
            </a:r>
          </a:p>
        </p:txBody>
      </p:sp>
      <p:pic>
        <p:nvPicPr>
          <p:cNvPr id="244" name="Image 0" descr="Image 0"/>
          <p:cNvPicPr>
            <a:picLocks noChangeAspect="1"/>
          </p:cNvPicPr>
          <p:nvPr/>
        </p:nvPicPr>
        <p:blipFill>
          <a:blip r:embed="rId2">
            <a:extLst/>
          </a:blip>
          <a:stretch>
            <a:fillRect/>
          </a:stretch>
        </p:blipFill>
        <p:spPr>
          <a:xfrm>
            <a:off x="881062" y="2539841"/>
            <a:ext cx="12544664" cy="4202432"/>
          </a:xfrm>
          <a:prstGeom prst="rect">
            <a:avLst/>
          </a:prstGeom>
          <a:ln w="12700">
            <a:miter lim="400000"/>
          </a:ln>
        </p:spPr>
      </p:pic>
      <p:sp>
        <p:nvSpPr>
          <p:cNvPr id="245" name="Rectangle"/>
          <p:cNvSpPr/>
          <p:nvPr/>
        </p:nvSpPr>
        <p:spPr>
          <a:xfrm>
            <a:off x="11911489" y="7611588"/>
            <a:ext cx="2653543" cy="675245"/>
          </a:xfrm>
          <a:prstGeom prst="rect">
            <a:avLst/>
          </a:prstGeom>
          <a:solidFill>
            <a:srgbClr val="0D0920"/>
          </a:solidFill>
          <a:ln w="12700">
            <a:miter lim="400000"/>
          </a:ln>
        </p:spPr>
        <p:txBody>
          <a:bodyPr lIns="45718" tIns="45718" rIns="45718" bIns="45718" anchor="ctr"/>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Text 0"/>
          <p:cNvSpPr txBox="1"/>
          <p:nvPr/>
        </p:nvSpPr>
        <p:spPr>
          <a:xfrm>
            <a:off x="1286588" y="495538"/>
            <a:ext cx="4946540" cy="463543"/>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3700"/>
              </a:lnSpc>
              <a:defRPr sz="3000">
                <a:solidFill>
                  <a:srgbClr val="C6BFEE"/>
                </a:solidFill>
                <a:latin typeface="Prompt Medium"/>
                <a:ea typeface="Prompt Medium"/>
                <a:cs typeface="Prompt Medium"/>
                <a:sym typeface="Prompt Medium"/>
              </a:defRPr>
            </a:lvl1pPr>
          </a:lstStyle>
          <a:p>
            <a:pPr/>
            <a:r>
              <a:t>Results &amp; Model Comparison</a:t>
            </a:r>
          </a:p>
        </p:txBody>
      </p:sp>
      <p:pic>
        <p:nvPicPr>
          <p:cNvPr id="248" name="Image 0" descr="Image 0"/>
          <p:cNvPicPr>
            <a:picLocks noChangeAspect="1"/>
          </p:cNvPicPr>
          <p:nvPr/>
        </p:nvPicPr>
        <p:blipFill>
          <a:blip r:embed="rId2">
            <a:extLst/>
          </a:blip>
          <a:stretch>
            <a:fillRect/>
          </a:stretch>
        </p:blipFill>
        <p:spPr>
          <a:xfrm>
            <a:off x="1286589" y="1174790"/>
            <a:ext cx="12057221" cy="3610332"/>
          </a:xfrm>
          <a:prstGeom prst="rect">
            <a:avLst/>
          </a:prstGeom>
          <a:ln w="12700">
            <a:miter lim="400000"/>
          </a:ln>
        </p:spPr>
      </p:pic>
      <p:sp>
        <p:nvSpPr>
          <p:cNvPr id="249" name="Text 1"/>
          <p:cNvSpPr txBox="1"/>
          <p:nvPr/>
        </p:nvSpPr>
        <p:spPr>
          <a:xfrm>
            <a:off x="1286588" y="4936211"/>
            <a:ext cx="12057224" cy="52217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1900"/>
              </a:lnSpc>
              <a:defRPr sz="1300">
                <a:solidFill>
                  <a:srgbClr val="DAD8E9"/>
                </a:solidFill>
                <a:latin typeface="Mukta Light"/>
                <a:ea typeface="Mukta Light"/>
                <a:cs typeface="Mukta Light"/>
                <a:sym typeface="Mukta Light"/>
              </a:defRPr>
            </a:lvl1pPr>
          </a:lstStyle>
          <a:p>
            <a:pPr/>
            <a:r>
              <a:t>27 model variants evaluated across 3 feature sets and 4 architectures. The Attention model on the 20-feature expanded set is the best deep learning result; Random Forest on the same set achieves the overall best.</a:t>
            </a:r>
          </a:p>
        </p:txBody>
      </p:sp>
      <p:pic>
        <p:nvPicPr>
          <p:cNvPr id="250" name="Image 1" descr="Image 1"/>
          <p:cNvPicPr>
            <a:picLocks noChangeAspect="1"/>
          </p:cNvPicPr>
          <p:nvPr/>
        </p:nvPicPr>
        <p:blipFill>
          <a:blip r:embed="rId3">
            <a:extLst/>
          </a:blip>
          <a:stretch>
            <a:fillRect/>
          </a:stretch>
        </p:blipFill>
        <p:spPr>
          <a:xfrm>
            <a:off x="1286589" y="5577363"/>
            <a:ext cx="12057221" cy="1515430"/>
          </a:xfrm>
          <a:prstGeom prst="rect">
            <a:avLst/>
          </a:prstGeom>
          <a:ln w="12700">
            <a:miter lim="400000"/>
          </a:ln>
        </p:spPr>
      </p:pic>
      <p:sp>
        <p:nvSpPr>
          <p:cNvPr id="251" name="Text 2"/>
          <p:cNvSpPr txBox="1"/>
          <p:nvPr/>
        </p:nvSpPr>
        <p:spPr>
          <a:xfrm>
            <a:off x="1286588" y="7243881"/>
            <a:ext cx="12057224" cy="52217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900"/>
              </a:lnSpc>
              <a:defRPr sz="1300">
                <a:solidFill>
                  <a:srgbClr val="DAD8E9"/>
                </a:solidFill>
                <a:latin typeface="Mukta Light"/>
                <a:ea typeface="Mukta Light"/>
                <a:cs typeface="Mukta Light"/>
                <a:sym typeface="Mukta Light"/>
              </a:defRPr>
            </a:pPr>
            <a:r>
              <a:t>Feature engineering drove the biggest gains. Expanding from 12 to 20 features improved AUROC by up to </a:t>
            </a:r>
            <a:r>
              <a:rPr>
                <a:solidFill>
                  <a:srgbClr val="C8C7FF"/>
                </a:solidFill>
              </a:rPr>
              <a:t>+0.29</a:t>
            </a:r>
            <a:r>
              <a:t> across every model, Attention improved from 0.6742 → 0.9603, MLP from 0.6742 → 0.9601. Domain knowledge in clinical feature engineering outperformed any architectural change.</a:t>
            </a:r>
          </a:p>
        </p:txBody>
      </p:sp>
      <p:sp>
        <p:nvSpPr>
          <p:cNvPr id="252" name="Rectangle"/>
          <p:cNvSpPr/>
          <p:nvPr/>
        </p:nvSpPr>
        <p:spPr>
          <a:xfrm>
            <a:off x="11911489" y="7611588"/>
            <a:ext cx="2653543" cy="675245"/>
          </a:xfrm>
          <a:prstGeom prst="rect">
            <a:avLst/>
          </a:prstGeom>
          <a:solidFill>
            <a:srgbClr val="0D0920"/>
          </a:solidFill>
          <a:ln w="12700">
            <a:miter lim="400000"/>
          </a:ln>
        </p:spPr>
        <p:txBody>
          <a:bodyPr lIns="45718" tIns="45718" rIns="45718" bIns="45718" anchor="ctr"/>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Text 0"/>
          <p:cNvSpPr txBox="1"/>
          <p:nvPr/>
        </p:nvSpPr>
        <p:spPr>
          <a:xfrm>
            <a:off x="881062" y="1226344"/>
            <a:ext cx="6101284" cy="5986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800">
                <a:solidFill>
                  <a:srgbClr val="C6BFEE"/>
                </a:solidFill>
                <a:latin typeface="Prompt Medium"/>
                <a:ea typeface="Prompt Medium"/>
                <a:cs typeface="Prompt Medium"/>
                <a:sym typeface="Prompt Medium"/>
              </a:defRPr>
            </a:lvl1pPr>
          </a:lstStyle>
          <a:p>
            <a:pPr/>
            <a:r>
              <a:t>Streamlit Clinical Dashboard</a:t>
            </a:r>
          </a:p>
        </p:txBody>
      </p:sp>
      <p:sp>
        <p:nvSpPr>
          <p:cNvPr id="255" name="Text 1"/>
          <p:cNvSpPr txBox="1"/>
          <p:nvPr/>
        </p:nvSpPr>
        <p:spPr>
          <a:xfrm>
            <a:off x="881061" y="2168723"/>
            <a:ext cx="12868278" cy="7320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700"/>
              </a:lnSpc>
              <a:defRPr sz="1700">
                <a:solidFill>
                  <a:srgbClr val="DAD8E9"/>
                </a:solidFill>
                <a:latin typeface="Mukta Light"/>
                <a:ea typeface="Mukta Light"/>
                <a:cs typeface="Mukta Light"/>
                <a:sym typeface="Mukta Light"/>
              </a:defRPr>
            </a:lvl1pPr>
          </a:lstStyle>
          <a:p>
            <a:pPr/>
            <a:r>
              <a:t>Trained models wrapped in an interactive clinical decision support tool. A clinician enters patient demographics, drug, dose, route, and duration, the model returns a real-time probability score with color-coded risk bands.</a:t>
            </a:r>
          </a:p>
        </p:txBody>
      </p:sp>
      <p:sp>
        <p:nvSpPr>
          <p:cNvPr id="256" name="Shape 2"/>
          <p:cNvSpPr/>
          <p:nvPr/>
        </p:nvSpPr>
        <p:spPr>
          <a:xfrm>
            <a:off x="722471" y="3121343"/>
            <a:ext cx="6482597" cy="3881914"/>
          </a:xfrm>
          <a:prstGeom prst="roundRect">
            <a:avLst>
              <a:gd name="adj" fmla="val 4086"/>
            </a:avLst>
          </a:prstGeom>
          <a:solidFill>
            <a:srgbClr val="FDC4C4">
              <a:alpha val="95000"/>
            </a:srgbClr>
          </a:solidFill>
          <a:ln w="12700">
            <a:miter lim="400000"/>
          </a:ln>
        </p:spPr>
        <p:txBody>
          <a:bodyPr lIns="45718" tIns="45718" rIns="45718" bIns="45718"/>
          <a:lstStyle/>
          <a:p>
            <a:pPr>
              <a:defRPr>
                <a:latin typeface="+mj-lt"/>
                <a:ea typeface="+mj-ea"/>
                <a:cs typeface="+mj-cs"/>
                <a:sym typeface="Calibri"/>
              </a:defRPr>
            </a:pPr>
          </a:p>
        </p:txBody>
      </p:sp>
      <p:sp>
        <p:nvSpPr>
          <p:cNvPr id="257" name="Text 3"/>
          <p:cNvSpPr txBox="1"/>
          <p:nvPr/>
        </p:nvSpPr>
        <p:spPr>
          <a:xfrm>
            <a:off x="942737" y="3341608"/>
            <a:ext cx="1327008" cy="29933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latin typeface="Prompt Medium"/>
                <a:ea typeface="Prompt Medium"/>
                <a:cs typeface="Prompt Medium"/>
                <a:sym typeface="Prompt Medium"/>
              </a:defRPr>
            </a:lvl1pPr>
          </a:lstStyle>
          <a:p>
            <a:pPr/>
            <a:r>
              <a:t>Predict ADR</a:t>
            </a:r>
          </a:p>
        </p:txBody>
      </p:sp>
      <p:sp>
        <p:nvSpPr>
          <p:cNvPr id="258" name="Text 4"/>
          <p:cNvSpPr txBox="1"/>
          <p:nvPr/>
        </p:nvSpPr>
        <p:spPr>
          <a:xfrm>
            <a:off x="942737" y="3867863"/>
            <a:ext cx="6042065" cy="10749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ts val="2700"/>
              </a:lnSpc>
              <a:buSzPct val="100000"/>
              <a:buChar char="•"/>
              <a:defRPr sz="1700">
                <a:latin typeface="Mukta Light"/>
                <a:ea typeface="Mukta Light"/>
                <a:cs typeface="Mukta Light"/>
                <a:sym typeface="Mukta Light"/>
              </a:defRPr>
            </a:pPr>
            <a:r>
              <a:t>Low (&lt;0.35) · Medium (0.35–0.6) · High (≥0.6)</a:t>
            </a:r>
          </a:p>
          <a:p>
            <a:pPr marL="342900" indent="-342900">
              <a:lnSpc>
                <a:spcPts val="2700"/>
              </a:lnSpc>
              <a:buSzPct val="100000"/>
              <a:buChar char="•"/>
              <a:defRPr sz="1700">
                <a:latin typeface="Mukta Light"/>
                <a:ea typeface="Mukta Light"/>
                <a:cs typeface="Mukta Light"/>
                <a:sym typeface="Mukta Light"/>
              </a:defRPr>
            </a:pPr>
            <a:r>
              <a:t>High-risk triggers alert: consider alternative medication or dose adjustment</a:t>
            </a:r>
          </a:p>
        </p:txBody>
      </p:sp>
      <p:pic>
        <p:nvPicPr>
          <p:cNvPr id="259" name="Image 0" descr="Image 0"/>
          <p:cNvPicPr>
            <a:picLocks noChangeAspect="1"/>
          </p:cNvPicPr>
          <p:nvPr/>
        </p:nvPicPr>
        <p:blipFill>
          <a:blip r:embed="rId2">
            <a:extLst/>
          </a:blip>
          <a:stretch>
            <a:fillRect/>
          </a:stretch>
        </p:blipFill>
        <p:spPr>
          <a:xfrm>
            <a:off x="942737" y="5249941"/>
            <a:ext cx="6042065" cy="1505547"/>
          </a:xfrm>
          <a:prstGeom prst="rect">
            <a:avLst/>
          </a:prstGeom>
          <a:ln w="12700">
            <a:miter lim="400000"/>
          </a:ln>
        </p:spPr>
      </p:pic>
      <p:sp>
        <p:nvSpPr>
          <p:cNvPr id="260" name="Text 5"/>
          <p:cNvSpPr txBox="1"/>
          <p:nvPr/>
        </p:nvSpPr>
        <p:spPr>
          <a:xfrm>
            <a:off x="7591544" y="3341608"/>
            <a:ext cx="2748887" cy="29933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C6BFEE"/>
                </a:solidFill>
                <a:latin typeface="Prompt Medium"/>
                <a:ea typeface="Prompt Medium"/>
                <a:cs typeface="Prompt Medium"/>
                <a:sym typeface="Prompt Medium"/>
              </a:defRPr>
            </a:lvl1pPr>
          </a:lstStyle>
          <a:p>
            <a:pPr/>
            <a:r>
              <a:t>Model Performance Page</a:t>
            </a:r>
          </a:p>
        </p:txBody>
      </p:sp>
      <p:sp>
        <p:nvSpPr>
          <p:cNvPr id="261" name="Text 6"/>
          <p:cNvSpPr txBox="1"/>
          <p:nvPr/>
        </p:nvSpPr>
        <p:spPr>
          <a:xfrm>
            <a:off x="7591544" y="3867863"/>
            <a:ext cx="6165415" cy="10749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ts val="2700"/>
              </a:lnSpc>
              <a:buSzPct val="100000"/>
              <a:buChar char="•"/>
              <a:defRPr sz="1700">
                <a:solidFill>
                  <a:srgbClr val="DAD8E9"/>
                </a:solidFill>
                <a:latin typeface="Mukta Light"/>
                <a:ea typeface="Mukta Light"/>
                <a:cs typeface="Mukta Light"/>
                <a:sym typeface="Mukta Light"/>
              </a:defRPr>
            </a:pPr>
            <a:r>
              <a:t>AUROC/AUPRC headline KPI cards</a:t>
            </a:r>
          </a:p>
          <a:p>
            <a:pPr marL="342900" indent="-342900">
              <a:lnSpc>
                <a:spcPts val="2700"/>
              </a:lnSpc>
              <a:buSzPct val="100000"/>
              <a:buChar char="•"/>
              <a:defRPr sz="1700">
                <a:solidFill>
                  <a:srgbClr val="DAD8E9"/>
                </a:solidFill>
                <a:latin typeface="Mukta Light"/>
                <a:ea typeface="Mukta Light"/>
                <a:cs typeface="Mukta Light"/>
                <a:sym typeface="Mukta Light"/>
              </a:defRPr>
            </a:pPr>
            <a:r>
              <a:t>ROC &amp; PR curves for all models</a:t>
            </a:r>
          </a:p>
          <a:p>
            <a:pPr marL="342900" indent="-342900">
              <a:lnSpc>
                <a:spcPts val="2700"/>
              </a:lnSpc>
              <a:buSzPct val="100000"/>
              <a:buChar char="•"/>
              <a:defRPr sz="1700">
                <a:solidFill>
                  <a:srgbClr val="DAD8E9"/>
                </a:solidFill>
                <a:latin typeface="Mukta Light"/>
                <a:ea typeface="Mukta Light"/>
                <a:cs typeface="Mukta Light"/>
                <a:sym typeface="Mukta Light"/>
              </a:defRPr>
            </a:pPr>
            <a:r>
              <a:t>Per-model training loss &amp; AUROC history</a:t>
            </a:r>
          </a:p>
        </p:txBody>
      </p:sp>
      <p:sp>
        <p:nvSpPr>
          <p:cNvPr id="262" name="Text 7"/>
          <p:cNvSpPr txBox="1"/>
          <p:nvPr/>
        </p:nvSpPr>
        <p:spPr>
          <a:xfrm>
            <a:off x="7591544" y="5299471"/>
            <a:ext cx="2386820" cy="29933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C6BFEE"/>
                </a:solidFill>
                <a:latin typeface="Prompt Medium"/>
                <a:ea typeface="Prompt Medium"/>
                <a:cs typeface="Prompt Medium"/>
                <a:sym typeface="Prompt Medium"/>
              </a:defRPr>
            </a:lvl1pPr>
          </a:lstStyle>
          <a:p>
            <a:pPr/>
            <a:r>
              <a:t>Past Predictions Page</a:t>
            </a:r>
          </a:p>
        </p:txBody>
      </p:sp>
      <p:sp>
        <p:nvSpPr>
          <p:cNvPr id="263" name="Text 8"/>
          <p:cNvSpPr txBox="1"/>
          <p:nvPr/>
        </p:nvSpPr>
        <p:spPr>
          <a:xfrm>
            <a:off x="7591544" y="5825728"/>
            <a:ext cx="6165415" cy="7320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ts val="2700"/>
              </a:lnSpc>
              <a:buSzPct val="100000"/>
              <a:buChar char="•"/>
              <a:defRPr sz="1700">
                <a:solidFill>
                  <a:srgbClr val="DAD8E9"/>
                </a:solidFill>
                <a:latin typeface="Mukta Light"/>
                <a:ea typeface="Mukta Light"/>
                <a:cs typeface="Mukta Light"/>
                <a:sym typeface="Mukta Light"/>
              </a:defRPr>
            </a:pPr>
            <a:r>
              <a:t>Session-level prediction log, filter by drug or risk level</a:t>
            </a:r>
          </a:p>
          <a:p>
            <a:pPr marL="342900" indent="-342900">
              <a:lnSpc>
                <a:spcPts val="2700"/>
              </a:lnSpc>
              <a:buSzPct val="100000"/>
              <a:buChar char="•"/>
              <a:defRPr sz="1700">
                <a:solidFill>
                  <a:srgbClr val="DAD8E9"/>
                </a:solidFill>
                <a:latin typeface="Mukta Light"/>
                <a:ea typeface="Mukta Light"/>
                <a:cs typeface="Mukta Light"/>
                <a:sym typeface="Mukta Light"/>
              </a:defRPr>
            </a:pPr>
            <a:r>
              <a:t>Risk distribution pie chart · One-click CSV export</a:t>
            </a:r>
          </a:p>
        </p:txBody>
      </p:sp>
      <p:sp>
        <p:nvSpPr>
          <p:cNvPr id="264" name="Rectangle"/>
          <p:cNvSpPr/>
          <p:nvPr/>
        </p:nvSpPr>
        <p:spPr>
          <a:xfrm>
            <a:off x="11911489" y="7611588"/>
            <a:ext cx="2653543" cy="675245"/>
          </a:xfrm>
          <a:prstGeom prst="rect">
            <a:avLst/>
          </a:prstGeom>
          <a:solidFill>
            <a:srgbClr val="0D0920"/>
          </a:solidFill>
          <a:ln w="12700">
            <a:miter lim="400000"/>
          </a:ln>
        </p:spPr>
        <p:txBody>
          <a:bodyPr lIns="45718" tIns="45718" rIns="45718" bIns="45718" anchor="ctr"/>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6" name="Text 0"/>
          <p:cNvSpPr txBox="1"/>
          <p:nvPr/>
        </p:nvSpPr>
        <p:spPr>
          <a:xfrm>
            <a:off x="881061" y="1577815"/>
            <a:ext cx="2346054" cy="5986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800">
                <a:solidFill>
                  <a:srgbClr val="C6BFEE"/>
                </a:solidFill>
                <a:latin typeface="Prompt Medium"/>
                <a:ea typeface="Prompt Medium"/>
                <a:cs typeface="Prompt Medium"/>
                <a:sym typeface="Prompt Medium"/>
              </a:defRPr>
            </a:lvl1pPr>
          </a:lstStyle>
          <a:p>
            <a:pPr/>
            <a:r>
              <a:t>Discussion</a:t>
            </a:r>
          </a:p>
        </p:txBody>
      </p:sp>
      <p:pic>
        <p:nvPicPr>
          <p:cNvPr id="267" name="Image 0" descr="Image 0"/>
          <p:cNvPicPr>
            <a:picLocks noChangeAspect="1"/>
          </p:cNvPicPr>
          <p:nvPr/>
        </p:nvPicPr>
        <p:blipFill>
          <a:blip r:embed="rId2">
            <a:extLst/>
          </a:blip>
          <a:stretch>
            <a:fillRect/>
          </a:stretch>
        </p:blipFill>
        <p:spPr>
          <a:xfrm>
            <a:off x="881062" y="2630328"/>
            <a:ext cx="12868276" cy="4021338"/>
          </a:xfrm>
          <a:prstGeom prst="rect">
            <a:avLst/>
          </a:prstGeom>
          <a:ln w="12700">
            <a:miter lim="400000"/>
          </a:ln>
        </p:spPr>
      </p:pic>
      <p:sp>
        <p:nvSpPr>
          <p:cNvPr id="268" name="Rectangle"/>
          <p:cNvSpPr/>
          <p:nvPr/>
        </p:nvSpPr>
        <p:spPr>
          <a:xfrm>
            <a:off x="11911489" y="7611588"/>
            <a:ext cx="2653543" cy="675245"/>
          </a:xfrm>
          <a:prstGeom prst="rect">
            <a:avLst/>
          </a:prstGeom>
          <a:solidFill>
            <a:srgbClr val="0D0920"/>
          </a:solidFill>
          <a:ln w="12700">
            <a:miter lim="400000"/>
          </a:ln>
        </p:spPr>
        <p:txBody>
          <a:bodyPr lIns="45718" tIns="45718" rIns="45718" bIns="45718" anchor="ctr"/>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0" name="Text 0"/>
          <p:cNvSpPr txBox="1"/>
          <p:nvPr/>
        </p:nvSpPr>
        <p:spPr>
          <a:xfrm>
            <a:off x="881062" y="809623"/>
            <a:ext cx="5636594" cy="5986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800">
                <a:solidFill>
                  <a:srgbClr val="C6BFEE"/>
                </a:solidFill>
                <a:latin typeface="Prompt Medium"/>
                <a:ea typeface="Prompt Medium"/>
                <a:cs typeface="Prompt Medium"/>
                <a:sym typeface="Prompt Medium"/>
              </a:defRPr>
            </a:lvl1pPr>
          </a:lstStyle>
          <a:p>
            <a:pPr/>
            <a:r>
              <a:t>Conclusion &amp; Future Work</a:t>
            </a:r>
          </a:p>
        </p:txBody>
      </p:sp>
      <p:sp>
        <p:nvSpPr>
          <p:cNvPr id="271" name="Shape 1"/>
          <p:cNvSpPr/>
          <p:nvPr/>
        </p:nvSpPr>
        <p:spPr>
          <a:xfrm>
            <a:off x="881062" y="1862138"/>
            <a:ext cx="6324008" cy="3669032"/>
          </a:xfrm>
          <a:prstGeom prst="roundRect">
            <a:avLst>
              <a:gd name="adj" fmla="val 2522"/>
            </a:avLst>
          </a:prstGeom>
          <a:solidFill>
            <a:srgbClr val="542C49"/>
          </a:solidFill>
          <a:ln w="7620">
            <a:solidFill>
              <a:srgbClr val="6D4562"/>
            </a:solidFill>
          </a:ln>
        </p:spPr>
        <p:txBody>
          <a:bodyPr lIns="45718" tIns="45718" rIns="45718" bIns="45718"/>
          <a:lstStyle/>
          <a:p>
            <a:pPr>
              <a:defRPr>
                <a:latin typeface="+mj-lt"/>
                <a:ea typeface="+mj-ea"/>
                <a:cs typeface="+mj-cs"/>
                <a:sym typeface="Calibri"/>
              </a:defRPr>
            </a:pPr>
          </a:p>
        </p:txBody>
      </p:sp>
      <p:sp>
        <p:nvSpPr>
          <p:cNvPr id="272" name="Text 2"/>
          <p:cNvSpPr txBox="1"/>
          <p:nvPr/>
        </p:nvSpPr>
        <p:spPr>
          <a:xfrm>
            <a:off x="1108947" y="2090023"/>
            <a:ext cx="2298570" cy="29933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DAD8E9"/>
                </a:solidFill>
                <a:latin typeface="Prompt Medium"/>
                <a:ea typeface="Prompt Medium"/>
                <a:cs typeface="Prompt Medium"/>
                <a:sym typeface="Prompt Medium"/>
              </a:defRPr>
            </a:lvl1pPr>
          </a:lstStyle>
          <a:p>
            <a:pPr/>
            <a:r>
              <a:t>✓ What We Achieved</a:t>
            </a:r>
          </a:p>
        </p:txBody>
      </p:sp>
      <p:sp>
        <p:nvSpPr>
          <p:cNvPr id="273" name="Text 3"/>
          <p:cNvSpPr txBox="1"/>
          <p:nvPr/>
        </p:nvSpPr>
        <p:spPr>
          <a:xfrm>
            <a:off x="1108948" y="2528172"/>
            <a:ext cx="5868233" cy="17607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ts val="2700"/>
              </a:lnSpc>
              <a:buSzPct val="100000"/>
              <a:buChar char="•"/>
              <a:defRPr sz="1700">
                <a:solidFill>
                  <a:srgbClr val="DAD8E9"/>
                </a:solidFill>
                <a:latin typeface="Mukta Light"/>
                <a:ea typeface="Mukta Light"/>
                <a:cs typeface="Mukta Light"/>
                <a:sym typeface="Mukta Light"/>
              </a:defRPr>
            </a:pPr>
            <a:r>
              <a:t>0.9825 AUROC : best overall (20-feature expanded set)</a:t>
            </a:r>
          </a:p>
          <a:p>
            <a:pPr marL="342900" indent="-342900">
              <a:lnSpc>
                <a:spcPts val="2700"/>
              </a:lnSpc>
              <a:buSzPct val="100000"/>
              <a:buChar char="•"/>
              <a:defRPr sz="1700">
                <a:solidFill>
                  <a:srgbClr val="DAD8E9"/>
                </a:solidFill>
                <a:latin typeface="Mukta Light"/>
                <a:ea typeface="Mukta Light"/>
                <a:cs typeface="Mukta Light"/>
                <a:sym typeface="Mukta Light"/>
              </a:defRPr>
            </a:pPr>
            <a:r>
              <a:t>0.9603 AUROC : best DL model (Attention, 20f)</a:t>
            </a:r>
          </a:p>
          <a:p>
            <a:pPr marL="342900" indent="-342900">
              <a:lnSpc>
                <a:spcPts val="2700"/>
              </a:lnSpc>
              <a:buSzPct val="100000"/>
              <a:buChar char="•"/>
              <a:defRPr sz="1700">
                <a:solidFill>
                  <a:srgbClr val="DAD8E9"/>
                </a:solidFill>
                <a:latin typeface="Mukta Light"/>
                <a:ea typeface="Mukta Light"/>
                <a:cs typeface="Mukta Light"/>
                <a:sym typeface="Mukta Light"/>
              </a:defRPr>
            </a:pPr>
            <a:r>
              <a:t>27 models across 3 feature sets &amp; 4 architectures</a:t>
            </a:r>
          </a:p>
          <a:p>
            <a:pPr marL="342900" indent="-342900">
              <a:lnSpc>
                <a:spcPts val="2700"/>
              </a:lnSpc>
              <a:buSzPct val="100000"/>
              <a:buChar char="•"/>
              <a:defRPr sz="1700">
                <a:solidFill>
                  <a:srgbClr val="DAD8E9"/>
                </a:solidFill>
                <a:latin typeface="Mukta Light"/>
                <a:ea typeface="Mukta Light"/>
                <a:cs typeface="Mukta Light"/>
                <a:sym typeface="Mukta Light"/>
              </a:defRPr>
            </a:pPr>
            <a:r>
              <a:t>Full pipeline: preprocessing → tuning → training → evaluation → dashboard</a:t>
            </a:r>
          </a:p>
        </p:txBody>
      </p:sp>
      <p:sp>
        <p:nvSpPr>
          <p:cNvPr id="274" name="Shape 4"/>
          <p:cNvSpPr/>
          <p:nvPr/>
        </p:nvSpPr>
        <p:spPr>
          <a:xfrm>
            <a:off x="7425332" y="1862138"/>
            <a:ext cx="6324006" cy="3669032"/>
          </a:xfrm>
          <a:prstGeom prst="roundRect">
            <a:avLst>
              <a:gd name="adj" fmla="val 2522"/>
            </a:avLst>
          </a:prstGeom>
          <a:solidFill>
            <a:srgbClr val="542C49"/>
          </a:solidFill>
          <a:ln w="7620">
            <a:solidFill>
              <a:srgbClr val="6D4562"/>
            </a:solidFill>
          </a:ln>
        </p:spPr>
        <p:txBody>
          <a:bodyPr lIns="45718" tIns="45718" rIns="45718" bIns="45718"/>
          <a:lstStyle/>
          <a:p>
            <a:pPr>
              <a:defRPr>
                <a:latin typeface="+mj-lt"/>
                <a:ea typeface="+mj-ea"/>
                <a:cs typeface="+mj-cs"/>
                <a:sym typeface="Calibri"/>
              </a:defRPr>
            </a:pPr>
          </a:p>
        </p:txBody>
      </p:sp>
      <p:sp>
        <p:nvSpPr>
          <p:cNvPr id="275" name="Text 5"/>
          <p:cNvSpPr txBox="1"/>
          <p:nvPr/>
        </p:nvSpPr>
        <p:spPr>
          <a:xfrm>
            <a:off x="7653218" y="2090023"/>
            <a:ext cx="2158244" cy="299335"/>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400"/>
              </a:lnSpc>
              <a:defRPr sz="1900">
                <a:solidFill>
                  <a:srgbClr val="DAD8E9"/>
                </a:solidFill>
                <a:latin typeface="Prompt Medium"/>
                <a:ea typeface="Prompt Medium"/>
                <a:cs typeface="Prompt Medium"/>
                <a:sym typeface="Prompt Medium"/>
              </a:defRPr>
            </a:lvl1pPr>
          </a:lstStyle>
          <a:p>
            <a:pPr/>
            <a:r>
              <a:t>→ Future Directions</a:t>
            </a:r>
          </a:p>
        </p:txBody>
      </p:sp>
      <p:sp>
        <p:nvSpPr>
          <p:cNvPr id="276" name="Text 6"/>
          <p:cNvSpPr txBox="1"/>
          <p:nvPr/>
        </p:nvSpPr>
        <p:spPr>
          <a:xfrm>
            <a:off x="7653218" y="2528173"/>
            <a:ext cx="5868235" cy="24465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ts val="2700"/>
              </a:lnSpc>
              <a:buSzPct val="100000"/>
              <a:buChar char="•"/>
              <a:defRPr sz="1700">
                <a:solidFill>
                  <a:srgbClr val="DAD8E9"/>
                </a:solidFill>
                <a:latin typeface="Mukta Light"/>
                <a:ea typeface="Mukta Light"/>
                <a:cs typeface="Mukta Light"/>
                <a:sym typeface="Mukta Light"/>
              </a:defRPr>
            </a:pPr>
            <a:r>
              <a:t>Temporal modeling : LSTM/Transformer over longitudinal lab sequences</a:t>
            </a:r>
          </a:p>
          <a:p>
            <a:pPr marL="342900" indent="-342900">
              <a:lnSpc>
                <a:spcPts val="2700"/>
              </a:lnSpc>
              <a:buSzPct val="100000"/>
              <a:buChar char="•"/>
              <a:defRPr sz="1700">
                <a:solidFill>
                  <a:srgbClr val="DAD8E9"/>
                </a:solidFill>
                <a:latin typeface="Mukta Light"/>
                <a:ea typeface="Mukta Light"/>
                <a:cs typeface="Mukta Light"/>
                <a:sym typeface="Mukta Light"/>
              </a:defRPr>
            </a:pPr>
            <a:r>
              <a:t>External validation on eICU, OMOP, or UK Biobank</a:t>
            </a:r>
          </a:p>
          <a:p>
            <a:pPr marL="342900" indent="-342900">
              <a:lnSpc>
                <a:spcPts val="2700"/>
              </a:lnSpc>
              <a:buSzPct val="100000"/>
              <a:buChar char="•"/>
              <a:defRPr sz="1700">
                <a:solidFill>
                  <a:srgbClr val="DAD8E9"/>
                </a:solidFill>
                <a:latin typeface="Mukta Light"/>
                <a:ea typeface="Mukta Light"/>
                <a:cs typeface="Mukta Light"/>
                <a:sym typeface="Mukta Light"/>
              </a:defRPr>
            </a:pPr>
            <a:r>
              <a:t>Drug molecular fingerprints from DrugBank/PubChem</a:t>
            </a:r>
          </a:p>
          <a:p>
            <a:pPr marL="342900" indent="-342900">
              <a:lnSpc>
                <a:spcPts val="2700"/>
              </a:lnSpc>
              <a:buSzPct val="100000"/>
              <a:buChar char="•"/>
              <a:defRPr sz="1700">
                <a:solidFill>
                  <a:srgbClr val="DAD8E9"/>
                </a:solidFill>
                <a:latin typeface="Mukta Light"/>
                <a:ea typeface="Mukta Light"/>
                <a:cs typeface="Mukta Light"/>
                <a:sym typeface="Mukta Light"/>
              </a:defRPr>
            </a:pPr>
            <a:r>
              <a:t>Attention weight visualization as clinical explainability layer</a:t>
            </a:r>
          </a:p>
          <a:p>
            <a:pPr marL="342900" indent="-342900">
              <a:lnSpc>
                <a:spcPts val="2700"/>
              </a:lnSpc>
              <a:buSzPct val="100000"/>
              <a:buChar char="•"/>
              <a:defRPr sz="1700">
                <a:solidFill>
                  <a:srgbClr val="DAD8E9"/>
                </a:solidFill>
                <a:latin typeface="Mukta Light"/>
                <a:ea typeface="Mukta Light"/>
                <a:cs typeface="Mukta Light"/>
                <a:sym typeface="Mukta Light"/>
              </a:defRPr>
            </a:pPr>
            <a:r>
              <a:t>Multi-label extension : predict specific ADR types simultaneously</a:t>
            </a:r>
          </a:p>
        </p:txBody>
      </p:sp>
      <p:sp>
        <p:nvSpPr>
          <p:cNvPr id="277" name="Shape 7"/>
          <p:cNvSpPr/>
          <p:nvPr/>
        </p:nvSpPr>
        <p:spPr>
          <a:xfrm>
            <a:off x="881062" y="5778937"/>
            <a:ext cx="12868276" cy="1640921"/>
          </a:xfrm>
          <a:prstGeom prst="roundRect">
            <a:avLst>
              <a:gd name="adj" fmla="val 5639"/>
            </a:avLst>
          </a:prstGeom>
          <a:solidFill>
            <a:srgbClr val="321A2C"/>
          </a:solidFill>
          <a:ln w="12700">
            <a:miter lim="400000"/>
          </a:ln>
        </p:spPr>
        <p:txBody>
          <a:bodyPr lIns="45718" tIns="45718" rIns="45718" bIns="45718"/>
          <a:lstStyle/>
          <a:p>
            <a:pPr>
              <a:defRPr>
                <a:latin typeface="+mj-lt"/>
                <a:ea typeface="+mj-ea"/>
                <a:cs typeface="+mj-cs"/>
                <a:sym typeface="Calibri"/>
              </a:defRPr>
            </a:pPr>
          </a:p>
        </p:txBody>
      </p:sp>
      <p:pic>
        <p:nvPicPr>
          <p:cNvPr id="278" name="Image 0" descr="Image 0"/>
          <p:cNvPicPr>
            <a:picLocks noChangeAspect="1"/>
          </p:cNvPicPr>
          <p:nvPr/>
        </p:nvPicPr>
        <p:blipFill>
          <a:blip r:embed="rId2">
            <a:extLst/>
          </a:blip>
          <a:stretch>
            <a:fillRect/>
          </a:stretch>
        </p:blipFill>
        <p:spPr>
          <a:xfrm>
            <a:off x="1101328" y="6105287"/>
            <a:ext cx="275275" cy="220268"/>
          </a:xfrm>
          <a:prstGeom prst="rect">
            <a:avLst/>
          </a:prstGeom>
          <a:ln w="12700">
            <a:miter lim="400000"/>
          </a:ln>
        </p:spPr>
      </p:pic>
      <p:sp>
        <p:nvSpPr>
          <p:cNvPr id="279" name="Text 8"/>
          <p:cNvSpPr txBox="1"/>
          <p:nvPr/>
        </p:nvSpPr>
        <p:spPr>
          <a:xfrm>
            <a:off x="1596864" y="6054209"/>
            <a:ext cx="11932210" cy="10749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700"/>
              </a:lnSpc>
              <a:defRPr sz="1700">
                <a:solidFill>
                  <a:srgbClr val="FFFFFF"/>
                </a:solidFill>
                <a:latin typeface="Mukta Light"/>
                <a:ea typeface="Mukta Light"/>
                <a:cs typeface="Mukta Light"/>
                <a:sym typeface="Mukta Light"/>
              </a:defRPr>
            </a:lvl1pPr>
          </a:lstStyle>
          <a:p>
            <a:pPr/>
            <a:r>
              <a:t>Key Takeaway: Deep learning on real-world EHR data can reliably predict adverse drug reactions and clinical feature engineering matters as much as architecture. Our Attention model achieves near state-of-the-art performance and remains interpretable for clinical deployment.</a:t>
            </a:r>
          </a:p>
        </p:txBody>
      </p:sp>
      <p:sp>
        <p:nvSpPr>
          <p:cNvPr id="280" name="Rectangle"/>
          <p:cNvSpPr/>
          <p:nvPr/>
        </p:nvSpPr>
        <p:spPr>
          <a:xfrm>
            <a:off x="11911489" y="7611588"/>
            <a:ext cx="2653543" cy="675245"/>
          </a:xfrm>
          <a:prstGeom prst="rect">
            <a:avLst/>
          </a:prstGeom>
          <a:solidFill>
            <a:srgbClr val="0D0920"/>
          </a:solidFill>
          <a:ln w="12700">
            <a:miter lim="400000"/>
          </a:ln>
        </p:spPr>
        <p:txBody>
          <a:bodyPr lIns="45718" tIns="45718" rIns="45718" bIns="45718" anchor="ctr"/>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82" name="Image 0" descr="Image 0"/>
          <p:cNvPicPr>
            <a:picLocks noChangeAspect="1"/>
          </p:cNvPicPr>
          <p:nvPr/>
        </p:nvPicPr>
        <p:blipFill>
          <a:blip r:embed="rId2">
            <a:extLst/>
          </a:blip>
          <a:stretch>
            <a:fillRect/>
          </a:stretch>
        </p:blipFill>
        <p:spPr>
          <a:xfrm>
            <a:off x="0" y="0"/>
            <a:ext cx="14630400" cy="8229600"/>
          </a:xfrm>
          <a:prstGeom prst="rect">
            <a:avLst/>
          </a:prstGeom>
          <a:ln w="12700">
            <a:miter lim="400000"/>
          </a:ln>
        </p:spPr>
      </p:pic>
      <p:sp>
        <p:nvSpPr>
          <p:cNvPr id="283" name="Text 0"/>
          <p:cNvSpPr txBox="1"/>
          <p:nvPr/>
        </p:nvSpPr>
        <p:spPr>
          <a:xfrm>
            <a:off x="881062" y="3808807"/>
            <a:ext cx="5081414" cy="59867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800">
                <a:solidFill>
                  <a:srgbClr val="C6BFEE"/>
                </a:solidFill>
                <a:latin typeface="Prompt Medium"/>
                <a:ea typeface="Prompt Medium"/>
                <a:cs typeface="Prompt Medium"/>
                <a:sym typeface="Prompt Medium"/>
              </a:defRPr>
            </a:lvl1pPr>
          </a:lstStyle>
          <a:p>
            <a:pPr/>
            <a:r>
              <a:t>                Project Demo</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5" name="Text 0"/>
          <p:cNvSpPr txBox="1"/>
          <p:nvPr/>
        </p:nvSpPr>
        <p:spPr>
          <a:xfrm>
            <a:off x="881062" y="1961436"/>
            <a:ext cx="2428057" cy="59866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4800"/>
              </a:lnSpc>
              <a:defRPr sz="3800">
                <a:solidFill>
                  <a:srgbClr val="C6BFEE"/>
                </a:solidFill>
                <a:latin typeface="Prompt Medium"/>
                <a:ea typeface="Prompt Medium"/>
                <a:cs typeface="Prompt Medium"/>
                <a:sym typeface="Prompt Medium"/>
              </a:defRPr>
            </a:lvl1pPr>
          </a:lstStyle>
          <a:p>
            <a:pPr/>
            <a:r>
              <a:t>Thank You!</a:t>
            </a:r>
          </a:p>
        </p:txBody>
      </p:sp>
      <p:sp>
        <p:nvSpPr>
          <p:cNvPr id="286" name="Text 1"/>
          <p:cNvSpPr txBox="1"/>
          <p:nvPr/>
        </p:nvSpPr>
        <p:spPr>
          <a:xfrm>
            <a:off x="881061" y="2903814"/>
            <a:ext cx="12868278" cy="7320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700"/>
              </a:lnSpc>
              <a:defRPr sz="1700">
                <a:solidFill>
                  <a:srgbClr val="DAD8E9"/>
                </a:solidFill>
                <a:latin typeface="Mukta Light"/>
                <a:ea typeface="Mukta Light"/>
                <a:cs typeface="Mukta Light"/>
                <a:sym typeface="Mukta Light"/>
              </a:defRPr>
            </a:lvl1pPr>
          </a:lstStyle>
          <a:p>
            <a:pPr/>
            <a:r>
              <a:t>We appreciate your time and attention to our project. We hope this presentation has demonstrated the potential of deep learning to proactively identify and mitigate adverse drug reactions, ultimately improving patient safety.</a:t>
            </a:r>
          </a:p>
        </p:txBody>
      </p:sp>
      <p:sp>
        <p:nvSpPr>
          <p:cNvPr id="287" name="Text 2"/>
          <p:cNvSpPr txBox="1"/>
          <p:nvPr/>
        </p:nvSpPr>
        <p:spPr>
          <a:xfrm>
            <a:off x="881062" y="3856432"/>
            <a:ext cx="6206440" cy="389180"/>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sz="1700">
                <a:solidFill>
                  <a:srgbClr val="DAD8E9"/>
                </a:solidFill>
                <a:latin typeface="Mukta Light"/>
                <a:ea typeface="Mukta Light"/>
                <a:cs typeface="Mukta Light"/>
                <a:sym typeface="Mukta Light"/>
              </a:defRPr>
            </a:lvl1pPr>
          </a:lstStyle>
          <a:p>
            <a:pPr/>
            <a:r>
              <a:t>For any questions or further discussions, please reach out to our team:</a:t>
            </a:r>
          </a:p>
        </p:txBody>
      </p:sp>
      <p:sp>
        <p:nvSpPr>
          <p:cNvPr id="288" name="Text 3"/>
          <p:cNvSpPr txBox="1"/>
          <p:nvPr/>
        </p:nvSpPr>
        <p:spPr>
          <a:xfrm>
            <a:off x="881061" y="4456626"/>
            <a:ext cx="12868278" cy="107498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lnSpc>
                <a:spcPts val="2700"/>
              </a:lnSpc>
              <a:buSzPct val="100000"/>
              <a:buChar char="•"/>
              <a:defRPr sz="1700">
                <a:solidFill>
                  <a:srgbClr val="DAD8E9"/>
                </a:solidFill>
                <a:latin typeface="Mukta Light"/>
                <a:ea typeface="Mukta Light"/>
                <a:cs typeface="Mukta Light"/>
                <a:sym typeface="Mukta Light"/>
              </a:defRPr>
            </a:pPr>
            <a:r>
              <a:t>Elizabeth Coquillette</a:t>
            </a:r>
          </a:p>
          <a:p>
            <a:pPr marL="342900" indent="-342900">
              <a:lnSpc>
                <a:spcPts val="2700"/>
              </a:lnSpc>
              <a:buSzPct val="100000"/>
              <a:buChar char="•"/>
              <a:defRPr sz="1700">
                <a:solidFill>
                  <a:srgbClr val="DAD8E9"/>
                </a:solidFill>
                <a:latin typeface="Mukta Light"/>
                <a:ea typeface="Mukta Light"/>
                <a:cs typeface="Mukta Light"/>
                <a:sym typeface="Mukta Light"/>
              </a:defRPr>
            </a:pPr>
            <a:r>
              <a:t>Hithaishi Raghavendra Reddy</a:t>
            </a:r>
          </a:p>
          <a:p>
            <a:pPr marL="342900" indent="-342900">
              <a:lnSpc>
                <a:spcPts val="2700"/>
              </a:lnSpc>
              <a:buSzPct val="100000"/>
              <a:buChar char="•"/>
              <a:defRPr sz="1700">
                <a:solidFill>
                  <a:srgbClr val="DAD8E9"/>
                </a:solidFill>
                <a:latin typeface="Mukta Light"/>
                <a:ea typeface="Mukta Light"/>
                <a:cs typeface="Mukta Light"/>
                <a:sym typeface="Mukta Light"/>
              </a:defRPr>
            </a:pPr>
            <a:r>
              <a:t>Ishan Chotalia</a:t>
            </a:r>
          </a:p>
        </p:txBody>
      </p:sp>
      <p:sp>
        <p:nvSpPr>
          <p:cNvPr id="289" name="Text 4"/>
          <p:cNvSpPr txBox="1"/>
          <p:nvPr/>
        </p:nvSpPr>
        <p:spPr>
          <a:xfrm>
            <a:off x="881062" y="5915738"/>
            <a:ext cx="3957409" cy="38917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spAutoFit/>
          </a:bodyPr>
          <a:lstStyle>
            <a:lvl1pPr>
              <a:lnSpc>
                <a:spcPts val="2700"/>
              </a:lnSpc>
              <a:defRPr sz="1700">
                <a:solidFill>
                  <a:srgbClr val="DAD8E9"/>
                </a:solidFill>
                <a:latin typeface="Mukta Light"/>
                <a:ea typeface="Mukta Light"/>
                <a:cs typeface="Mukta Light"/>
                <a:sym typeface="Mukta Light"/>
              </a:defRPr>
            </a:lvl1pPr>
          </a:lstStyle>
          <a:p>
            <a:pPr/>
            <a:r>
              <a:t>DS5500 Data Science Capstone · Spring 2026</a:t>
            </a:r>
          </a:p>
        </p:txBody>
      </p:sp>
      <p:sp>
        <p:nvSpPr>
          <p:cNvPr id="290" name="Rectangle"/>
          <p:cNvSpPr/>
          <p:nvPr/>
        </p:nvSpPr>
        <p:spPr>
          <a:xfrm>
            <a:off x="11911489" y="7611588"/>
            <a:ext cx="2653543" cy="675245"/>
          </a:xfrm>
          <a:prstGeom prst="rect">
            <a:avLst/>
          </a:prstGeom>
          <a:solidFill>
            <a:srgbClr val="0D0920"/>
          </a:solidFill>
          <a:ln w="12700">
            <a:miter lim="400000"/>
          </a:ln>
        </p:spPr>
        <p:txBody>
          <a:bodyPr lIns="45718" tIns="45718" rIns="45718" bIns="45718" anchor="ctr"/>
          <a:lstStyle/>
          <a:p>
            <a:pPr>
              <a:defRPr>
                <a:latin typeface="+mj-lt"/>
                <a:ea typeface="+mj-ea"/>
                <a:cs typeface="+mj-cs"/>
                <a:sym typeface="Calibri"/>
              </a:defRPr>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000000"/>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